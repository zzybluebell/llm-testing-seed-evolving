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FB3D9"/>
                </a:solidFill>
                <a:latin typeface="Calibri"/>
              </a:rPr>
              <a:t>BLUEBELL SAAS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7899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Calibri"/>
              </a:rPr>
              <a:t>Investor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CFDAEE"/>
                </a:solidFill>
                <a:latin typeface="Calibri"/>
              </a:rPr>
              <a:t>Q3 2026  ·  Operating period: October 2023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FB3D9"/>
                </a:solidFill>
                <a:latin typeface="Calibri"/>
              </a:rPr>
              <a:t>MRR </a:t>
            </a:r>
            <a:r>
              <a:rPr sz="1500" b="1">
                <a:solidFill>
                  <a:srgbClr val="FFFFFF"/>
                </a:solidFill>
                <a:latin typeface="Calibri"/>
              </a:rPr>
              <a:t>$178,857.07</a:t>
            </a:r>
            <a:r>
              <a:rPr sz="1500" b="0">
                <a:solidFill>
                  <a:srgbClr val="9FB3D9"/>
                </a:solidFill>
                <a:latin typeface="Calibri"/>
              </a:rPr>
              <a:t>    Active customers </a:t>
            </a:r>
            <a:r>
              <a:rPr sz="1500" b="1">
                <a:solidFill>
                  <a:srgbClr val="FFFFFF"/>
                </a:solidFill>
                <a:latin typeface="Calibri"/>
              </a:rPr>
              <a:t>757</a:t>
            </a:r>
            <a:r>
              <a:rPr sz="1500" b="0">
                <a:solidFill>
                  <a:srgbClr val="9FB3D9"/>
                </a:solidFill>
                <a:latin typeface="Calibri"/>
              </a:rPr>
              <a:t>    LTV / CAC </a:t>
            </a:r>
            <a:r>
              <a:rPr sz="1500" b="1">
                <a:solidFill>
                  <a:srgbClr val="FFFFFF"/>
                </a:solidFill>
                <a:latin typeface="Calibri"/>
              </a:rPr>
              <a:t>6.84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EA2C8"/>
                </a:solidFill>
                <a:latin typeface="Calibri"/>
              </a:rPr>
              <a:t>Prepared 11 September 2026  ·  Confidential — for prospective investors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9FB3D9"/>
                </a:solidFill>
                <a:latin typeface="Calibri"/>
              </a:rPr>
              <a:t>Q3 2026 INVESTOR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715768" cy="148132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71576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81328"/>
            <a:ext cx="244144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2514E"/>
                </a:solidFill>
                <a:latin typeface="Calibri"/>
              </a:rPr>
              <a:t>MRR —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55648"/>
            <a:ext cx="2441448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2A44"/>
                </a:solidFill>
                <a:latin typeface="Calibri"/>
              </a:rPr>
              <a:t>$178,857.07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359152"/>
            <a:ext cx="2441448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Calibri"/>
              </a:rPr>
              <a:t>Oct 2023: $22,955.41  (7.79x growth)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25880"/>
            <a:ext cx="2715768" cy="148132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25880"/>
            <a:ext cx="271576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481328"/>
            <a:ext cx="244144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2514E"/>
                </a:solidFill>
                <a:latin typeface="Calibri"/>
              </a:rPr>
              <a:t>Active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1755648"/>
            <a:ext cx="2441448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2A44"/>
                </a:solidFill>
                <a:latin typeface="Calibri"/>
              </a:rPr>
              <a:t>757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359152"/>
            <a:ext cx="2441448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Calibri"/>
              </a:rPr>
              <a:t>Started at 120; net +637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25880"/>
            <a:ext cx="2715768" cy="148132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325880"/>
            <a:ext cx="271576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481328"/>
            <a:ext cx="244144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2514E"/>
                </a:solidFill>
                <a:latin typeface="Calibri"/>
              </a:rPr>
              <a:t>LTV / CAC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1755648"/>
            <a:ext cx="2441448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2A44"/>
                </a:solidFill>
                <a:latin typeface="Calibri"/>
              </a:rPr>
              <a:t>6.84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359152"/>
            <a:ext cx="2441448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Calibri"/>
              </a:rPr>
              <a:t>LTV $8,019.93  ·  CAC $1,172.91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325880"/>
            <a:ext cx="2715768" cy="148132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71576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1481328"/>
            <a:ext cx="244144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2514E"/>
                </a:solidFill>
                <a:latin typeface="Calibri"/>
              </a:rPr>
              <a:t>Gross margin — Sep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1755648"/>
            <a:ext cx="2441448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2A44"/>
                </a:solidFill>
                <a:latin typeface="Calibri"/>
              </a:rPr>
              <a:t>78.00%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359152"/>
            <a:ext cx="2441448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Calibri"/>
              </a:rPr>
              <a:t>Trailing-12m average 77.06%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27248"/>
            <a:ext cx="11183112" cy="18288"/>
          </a:xfrm>
          <a:prstGeom prst="rect">
            <a:avLst/>
          </a:prstGeom>
          <a:solidFill>
            <a:srgbClr val="C9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246120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2A44"/>
                </a:solidFill>
                <a:latin typeface="Calibri"/>
              </a:rPr>
              <a:t>What investors should know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611880"/>
            <a:ext cx="11201400" cy="2651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0B0B0B"/>
                </a:solidFill>
                <a:latin typeface="Calibri"/>
              </a:rPr>
              <a:t>• Recurring revenue scaled 7.79x over 36 months, from $22,955.41 to $178,857.07 MRR; LTM revenue (sum of the last 12 MRR) is $1,723,316.18.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0B0B0B"/>
                </a:solidFill>
                <a:latin typeface="Calibri"/>
              </a:rPr>
              <a:t>• Customer base grew from 120 to 757 active customers; trailing-12m 434 new logos vs 163 churned (net +271), with average monthly logo churn of 2.27%.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0B0B0B"/>
                </a:solidFill>
                <a:latin typeface="Calibri"/>
              </a:rPr>
              <a:t>• Efficient growth engine: CAC $1,172.91 (trailing 12m), LTV $8,019.93, payback 6.44 months; S&amp;M consumed 29.54% of LTM revenue.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0B0B0B"/>
                </a:solidFill>
                <a:latin typeface="Calibri"/>
              </a:rPr>
              <a:t>• Financing: modelled $5,000,000 equity investment (5-year DCF, no terminal value) and a $2,000,000 term loan; headcount ended the period at 34.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Bluebell SaaS Pte Ltd  ·  Investor Update, Q3 2026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MRR trend</a:t>
            </a:r>
          </a:p>
        </p:txBody>
      </p:sp>
      <p:pic>
        <p:nvPicPr>
          <p:cNvPr id="5" name="Picture 4" descr="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76" y="1188720"/>
            <a:ext cx="10415599" cy="43708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742432"/>
            <a:ext cx="11183112" cy="56692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24728"/>
            <a:ext cx="108813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2A44"/>
                </a:solidFill>
                <a:latin typeface="Calibri"/>
              </a:rPr>
              <a:t>Takeaway:  </a:t>
            </a:r>
            <a:r>
              <a:rPr sz="1250" b="0">
                <a:solidFill>
                  <a:srgbClr val="0B0B0B"/>
                </a:solidFill>
                <a:latin typeface="Calibri"/>
              </a:rPr>
              <a:t>MRR grew from $22,955.41 to $178,857.07 (7.79x over 36 months); LTM revenue $1,723,316.18. Monthly values from model.xlsx sheet 'raw'.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Bluebell SaaS Pte Ltd  ·  Investor Update, Q3 2026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Gross margin &amp; cost structure</a:t>
            </a:r>
          </a:p>
        </p:txBody>
      </p:sp>
      <p:pic>
        <p:nvPicPr>
          <p:cNvPr id="5" name="Picture 4" descr="gross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9526"/>
            <a:ext cx="6263640" cy="411610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280160"/>
            <a:ext cx="4645152" cy="78638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87184" y="1353312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A44"/>
                </a:solidFill>
                <a:latin typeface="Calibri"/>
              </a:rPr>
              <a:t>Gross margin — Sep 2026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(MRR − COGS) / MRR,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1389888"/>
            <a:ext cx="157276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>
                <a:solidFill>
                  <a:srgbClr val="2A78D6"/>
                </a:solidFill>
                <a:latin typeface="Calibri"/>
              </a:rPr>
              <a:t>78.00%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144268"/>
            <a:ext cx="4645152" cy="78638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87184" y="2217420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A44"/>
                </a:solidFill>
                <a:latin typeface="Calibri"/>
              </a:rPr>
              <a:t>Gross margin — Oct 2023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72.00% at period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2253996"/>
            <a:ext cx="157276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>
                <a:solidFill>
                  <a:srgbClr val="2A78D6"/>
                </a:solidFill>
                <a:latin typeface="Calibri"/>
              </a:rPr>
              <a:t>72.00%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008375"/>
            <a:ext cx="4645152" cy="78638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87184" y="3081527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A44"/>
                </a:solidFill>
                <a:latin typeface="Calibri"/>
              </a:rPr>
              <a:t>Average gross margin, L12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Simple average of last 12 monthly GM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3118103"/>
            <a:ext cx="157276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>
                <a:solidFill>
                  <a:srgbClr val="2A78D6"/>
                </a:solidFill>
                <a:latin typeface="Calibri"/>
              </a:rPr>
              <a:t>77.06%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872483"/>
            <a:ext cx="4645152" cy="78638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87184" y="3945635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A44"/>
                </a:solidFill>
                <a:latin typeface="Calibri"/>
              </a:rPr>
              <a:t>LTM blended gross margin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LTM gross profit $1,329,431.63 /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3982211"/>
            <a:ext cx="157276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>
                <a:solidFill>
                  <a:srgbClr val="2A78D6"/>
                </a:solidFill>
                <a:latin typeface="Calibri"/>
              </a:rPr>
              <a:t>77.14%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4736592"/>
            <a:ext cx="4645152" cy="78638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7184" y="4809744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A44"/>
                </a:solidFill>
                <a:latin typeface="Calibri"/>
              </a:rPr>
              <a:t>LTM revenue (Σ last 12 MRR)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COGS over the same period: $393,884.55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4846320"/>
            <a:ext cx="157276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>
                <a:solidFill>
                  <a:srgbClr val="2A78D6"/>
                </a:solidFill>
                <a:latin typeface="Calibri"/>
              </a:rPr>
              <a:t>$1,723,316.18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5600700"/>
            <a:ext cx="4645152" cy="78638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7184" y="5673852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A44"/>
                </a:solidFill>
                <a:latin typeface="Calibri"/>
              </a:rPr>
              <a:t>LTM sales &amp; marketing spend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29.54% of LTM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5710428"/>
            <a:ext cx="157276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>
                <a:solidFill>
                  <a:srgbClr val="2A78D6"/>
                </a:solidFill>
                <a:latin typeface="Calibri"/>
              </a:rPr>
              <a:t>$509,044.99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Bluebell SaaS Pte Ltd  ·  Investor Update, Q3 2026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Customer growth</a:t>
            </a:r>
          </a:p>
        </p:txBody>
      </p:sp>
      <p:pic>
        <p:nvPicPr>
          <p:cNvPr id="5" name="Picture 4" descr="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76" y="1188720"/>
            <a:ext cx="10415599" cy="43708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742432"/>
            <a:ext cx="11183112" cy="56692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15584"/>
            <a:ext cx="108813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2A44"/>
                </a:solidFill>
                <a:latin typeface="Calibri"/>
              </a:rPr>
              <a:t>Takeaway:  </a:t>
            </a:r>
            <a:r>
              <a:rPr sz="1250" b="0">
                <a:solidFill>
                  <a:srgbClr val="0B0B0B"/>
                </a:solidFill>
                <a:latin typeface="Calibri"/>
              </a:rPr>
              <a:t>Active customers 120 → 757. Trailing 12 months: 434 new vs 163 churned (net +271); average monthly logo churn 2.27%.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Bluebell SaaS Pte Ltd  ·  Investor Update, Q3 2026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Unit economics — trailing 12 months (Oct 2025 – Sep 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83112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920240"/>
                <a:gridCol w="6062472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 is calculated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CAC (trailing 12 months)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  <a:latin typeface="Calibri"/>
                        </a:rPr>
                        <a:t>$1,172.91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0B0B0B"/>
                          </a:solidFill>
                          <a:latin typeface="Calibri"/>
                        </a:rPr>
                        <a:t>S&amp;M $509,044.99 ÷ 434 new customers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0B0B0B"/>
                          </a:solidFill>
                          <a:latin typeface="Calibri"/>
                        </a:rPr>
                        <a:t>ARPA × avg GM 77.06% ÷ avg monthly churn 2.27%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LTV / CAC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  <a:latin typeface="Calibri"/>
                        </a:rPr>
                        <a:t>6.84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0B0B0B"/>
                          </a:solidFill>
                          <a:latin typeface="Calibri"/>
                        </a:rPr>
                        <a:t>$8,019.93 ÷ $1,172.91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CAC payback (months)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0B0B0B"/>
                          </a:solidFill>
                          <a:latin typeface="Calibri"/>
                        </a:rPr>
                        <a:t>CAC ÷ (ARPA × avg GM 77.06%)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ARPA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0B0B0B"/>
                          </a:solidFill>
                          <a:latin typeface="Calibri"/>
                        </a:rPr>
                        <a:t>Sep 2026 MRR $178,857.07 ÷ 757 active customers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53212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2514E"/>
                </a:solidFill>
                <a:latin typeface="Calibri"/>
              </a:rPr>
              <a:t>All five values shown to two decimals and linked as live Excel formulas (model.xlsx → sheet 'unit_economics', cells G7, G13, G14, G15, G12).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2514E"/>
                </a:solidFill>
                <a:latin typeface="Calibri"/>
              </a:rPr>
              <a:t>Interpretation: LTV/CAC of 6.84 and a 6.44-month payback indicate an efficient accretion engine at current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Bluebell SaaS Pte Ltd  ·  Investor Update, Q3 2026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5-year DCF — management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2A44"/>
                </a:solidFill>
                <a:latin typeface="Calibri"/>
              </a:rPr>
              <a:t>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57784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Calibri"/>
              </a:rPr>
              <a:t>• Revenue year 0 = Σ last 12 MRR = $1,723,316.18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Calibri"/>
              </a:rPr>
              <a:t>• Growth, years 1–5: 25.00%, 21.00%, 17.00%, 13.00%, 10.00%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Calibri"/>
              </a:rPr>
              <a:t>• FCF margin, years 1–5: 15.00%, 17.50%, 20.00%, 22.50%, 25.00%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Calibri"/>
              </a:rPr>
              <a:t>• Discount rate: 12.00%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Calibri"/>
              </a:rPr>
              <a:t>• Initial investment: −$5,000,000 at year 0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Calibri"/>
              </a:rPr>
              <a:t>• No terminal value; NPV = =NPV() + year 0; IRR = =IRR()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794760"/>
          <a:ext cx="10488168" cy="141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1481328"/>
                <a:gridCol w="1481328"/>
                <a:gridCol w="1481328"/>
                <a:gridCol w="1481328"/>
                <a:gridCol w="1481328"/>
                <a:gridCol w="1481328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$1,723,316.18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$2,154,145.23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$2,606,515.72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$3,049,623.40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$3,446,074.44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$3,790,681.88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Free cash flow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$-5,000,000.00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$323,121.78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$456,140.25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$609,924.68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$775,366.75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$947,670.47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37960" y="1143000"/>
            <a:ext cx="5148072" cy="22402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298448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2A44"/>
                </a:solidFill>
                <a:latin typeface="Calibri"/>
              </a:rPr>
              <a:t>Valuation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6916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2514E"/>
                </a:solidFill>
                <a:latin typeface="Calibri"/>
              </a:rPr>
              <a:t>NPV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62763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2300" b="1">
                <a:solidFill>
                  <a:srgbClr val="E34948"/>
                </a:solidFill>
                <a:latin typeface="Calibri"/>
              </a:rPr>
              <a:t>$-2,883,240.59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95728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2514E"/>
                </a:solidFill>
                <a:latin typeface="Calibri"/>
              </a:rPr>
              <a:t>IRR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3172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2300" b="1">
                <a:solidFill>
                  <a:srgbClr val="E34948"/>
                </a:solidFill>
                <a:latin typeface="Calibri"/>
              </a:rPr>
              <a:t>-12.29%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32120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2A44"/>
                </a:solidFill>
                <a:latin typeface="Calibri"/>
              </a:rPr>
              <a:t>Reading:  </a:t>
            </a:r>
            <a:r>
              <a:rPr sz="1150" b="0">
                <a:solidFill>
                  <a:srgbClr val="0B0B0B"/>
                </a:solidFill>
                <a:latin typeface="Calibri"/>
              </a:rPr>
              <a:t>on these assumptions the five years of projected FCF do not by themselves return the $5,000,000 investment (no terminal value, per the agreed convention). NPV and IRR are reported unadjusted as live formulas in model.xlsx → sheet 'dcf' (B16, B17).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Bluebell SaaS Pte Ltd  ·  Investor Update, Q3 2026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Term loan — amortization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697480" cy="11430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69748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52514E"/>
                </a:solidFill>
                <a:latin typeface="Calibri"/>
              </a:rPr>
              <a:t>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F2A44"/>
                </a:solidFill>
                <a:latin typeface="Calibri"/>
              </a:rPr>
              <a:t>$2,000,000.00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1" y="1325880"/>
            <a:ext cx="2697480" cy="11430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1" y="1325880"/>
            <a:ext cx="269748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1" y="1463040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52514E"/>
                </a:solidFill>
                <a:latin typeface="Calibri"/>
              </a:rPr>
              <a:t>Annual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1" y="173736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F2A44"/>
                </a:solidFill>
                <a:latin typeface="Calibri"/>
              </a:rPr>
              <a:t>7.00%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325880"/>
            <a:ext cx="2697480" cy="11430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325880"/>
            <a:ext cx="269748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463040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52514E"/>
                </a:solidFill>
                <a:latin typeface="Calibri"/>
              </a:rPr>
              <a:t>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73736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F2A44"/>
                </a:solidFill>
                <a:latin typeface="Calibri"/>
              </a:rPr>
              <a:t>60 months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1325880"/>
            <a:ext cx="2697480" cy="11430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6" y="1325880"/>
            <a:ext cx="269748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463040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52514E"/>
                </a:solidFill>
                <a:latin typeface="Calibri"/>
              </a:rPr>
              <a:t>Equal monthly 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73736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F2A44"/>
                </a:solidFill>
                <a:latin typeface="Calibri"/>
              </a:rPr>
              <a:t>$39,602.40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788920"/>
          <a:ext cx="8412480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/>
                <a:gridCol w="29260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 / value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Monthly payment (PMT, 60 equal payments)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$39,602.40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Total payments over 60 months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$2,376,143.82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Total interest (sum of interest column)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$376,143.82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Interest portion of payment 1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$11,666.67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Principal portion of payment 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$27,935.73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Ending balance after payment 60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9098280" y="2834640"/>
            <a:ext cx="260604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A44"/>
                </a:solidFill>
                <a:latin typeface="Calibri"/>
              </a:rPr>
              <a:t>Mechanics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Calibri"/>
              </a:rPr>
              <a:t>• Monthly rate = 7.00% ÷ 12 = 0.5833%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Calibri"/>
              </a:rPr>
              <a:t>• Payment via Excel =PMT(): $39,602.40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Calibri"/>
              </a:rPr>
              <a:t>• Full 60-row amortization table (beginning balance, interest, principal, ending balance) is a live schedule in model.xlsx → sheet 'loan'.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Bluebell SaaS Pte Ltd  ·  Investor Update, Q3 2026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Use of funds — $5,000,000 round (illustrative)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44"/>
                </a:solidFill>
                <a:latin typeface="Calibri"/>
              </a:rPr>
              <a:t>Product &amp; engineering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2514E"/>
                </a:solidFill>
                <a:latin typeface="Calibri"/>
              </a:rPr>
              <a:t>Platform build-out, R&amp;D, technical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63624"/>
            <a:ext cx="5852160" cy="475488"/>
          </a:xfrm>
          <a:prstGeom prst="roundRect">
            <a:avLst/>
          </a:prstGeom>
          <a:solidFill>
            <a:srgbClr val="E9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563624"/>
            <a:ext cx="2340864" cy="47548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1545336"/>
            <a:ext cx="22402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2A78D6"/>
                </a:solidFill>
                <a:latin typeface="Calibri"/>
              </a:rPr>
              <a:t>40%</a:t>
            </a:r>
          </a:p>
          <a:p>
            <a:pPr algn="r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  <a:latin typeface="Calibri"/>
              </a:rPr>
              <a:t>$2,000,000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44"/>
                </a:solidFill>
                <a:latin typeface="Calibri"/>
              </a:rPr>
              <a:t>Sales &amp; marketing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2514E"/>
                </a:solidFill>
                <a:latin typeface="Calibri"/>
              </a:rPr>
              <a:t>Demand generation and CAC-funded acquisition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523744"/>
            <a:ext cx="5852160" cy="475488"/>
          </a:xfrm>
          <a:prstGeom prst="roundRect">
            <a:avLst/>
          </a:prstGeom>
          <a:solidFill>
            <a:srgbClr val="E9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523744"/>
            <a:ext cx="1755648" cy="475488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2505456"/>
            <a:ext cx="22402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EB6834"/>
                </a:solidFill>
                <a:latin typeface="Calibri"/>
              </a:rPr>
              <a:t>30%</a:t>
            </a:r>
          </a:p>
          <a:p>
            <a:pPr algn="r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  <a:latin typeface="Calibri"/>
              </a:rPr>
              <a:t>$1,500,000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44"/>
                </a:solidFill>
                <a:latin typeface="Calibri"/>
              </a:rPr>
              <a:t>Team expansion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2514E"/>
                </a:solidFill>
                <a:latin typeface="Calibri"/>
              </a:rPr>
              <a:t>Hiring across G&amp;A, customer success and 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483864"/>
            <a:ext cx="5852160" cy="475488"/>
          </a:xfrm>
          <a:prstGeom prst="roundRect">
            <a:avLst/>
          </a:prstGeom>
          <a:solidFill>
            <a:srgbClr val="E9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3483864"/>
            <a:ext cx="1170432" cy="475488"/>
          </a:xfrm>
          <a:prstGeom prst="round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3465576"/>
            <a:ext cx="22402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1BAF7A"/>
                </a:solidFill>
                <a:latin typeface="Calibri"/>
              </a:rPr>
              <a:t>20%</a:t>
            </a:r>
          </a:p>
          <a:p>
            <a:pPr algn="r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  <a:latin typeface="Calibri"/>
              </a:rPr>
              <a:t>$1,000,000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8912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44"/>
                </a:solidFill>
                <a:latin typeface="Calibri"/>
              </a:rPr>
              <a:t>Working capital &amp; reserve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2514E"/>
                </a:solidFill>
                <a:latin typeface="Calibri"/>
              </a:rPr>
              <a:t>Operating buffer; complements the $2.0M term loan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443983"/>
            <a:ext cx="5852160" cy="475488"/>
          </a:xfrm>
          <a:prstGeom prst="roundRect">
            <a:avLst/>
          </a:prstGeom>
          <a:solidFill>
            <a:srgbClr val="E9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0" y="4443983"/>
            <a:ext cx="585216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4425696"/>
            <a:ext cx="22402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1F2A44"/>
                </a:solidFill>
                <a:latin typeface="Calibri"/>
              </a:rPr>
              <a:t>10%</a:t>
            </a:r>
          </a:p>
          <a:p>
            <a:pPr algn="r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  <a:latin typeface="Calibri"/>
              </a:rPr>
              <a:t>$500,000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86400"/>
            <a:ext cx="11183112" cy="713232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577840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2A44"/>
                </a:solidFill>
                <a:latin typeface="Calibri"/>
              </a:rPr>
              <a:t>Total planned deployment: $5,000,000 (100%).  </a:t>
            </a:r>
            <a:r>
              <a:rPr sz="1200" b="0">
                <a:solidFill>
                  <a:srgbClr val="0B0B0B"/>
                </a:solidFill>
                <a:latin typeface="Calibri"/>
              </a:rPr>
              <a:t>Allocation is an illustrative management plan — see appendix assumptions. The $2,000,000 term loan (slide 8) is a separate, fully-amortizing facility.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Bluebell SaaS Pte Ltd  ·  Investor Update, Q3 2026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Appendix A — data, definitions and model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A1  </a:t>
            </a:r>
            <a:r>
              <a:rPr sz="1050" b="0">
                <a:solidFill>
                  <a:srgbClr val="0B0B0B"/>
                </a:solidFill>
                <a:latin typeface="Calibri"/>
              </a:rPr>
              <a:t>Source: data/financials.xlsx, sheet 'raw'; 36 monthly rows, Oct 2023 – Sep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49908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A2  </a:t>
            </a:r>
            <a:r>
              <a:rPr sz="1050" b="0">
                <a:solidFill>
                  <a:srgbClr val="0B0B0B"/>
                </a:solidFill>
                <a:latin typeface="Calibri"/>
              </a:rPr>
              <a:t>Starting active customers = 120 at 30 Sep 2023 (given).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65376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A3  </a:t>
            </a:r>
            <a:r>
              <a:rPr sz="1050" b="0">
                <a:solidFill>
                  <a:srgbClr val="0B0B0B"/>
                </a:solidFill>
                <a:latin typeface="Calibri"/>
              </a:rPr>
              <a:t>Active customers = prior active + new − churned, applied monthly from 120.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80844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A4  </a:t>
            </a:r>
            <a:r>
              <a:rPr sz="1050" b="0">
                <a:solidFill>
                  <a:srgbClr val="0B0B0B"/>
                </a:solidFill>
                <a:latin typeface="Calibri"/>
              </a:rPr>
              <a:t>Gross margin = (MRR − COGS) / MRR, computed per month.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96311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A5  </a:t>
            </a:r>
            <a:r>
              <a:rPr sz="1050" b="0">
                <a:solidFill>
                  <a:srgbClr val="0B0B0B"/>
                </a:solidFill>
                <a:latin typeface="Calibri"/>
              </a:rPr>
              <a:t>Monthly churn = churned / prior month active; first month denominator = 120.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11779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A6  </a:t>
            </a:r>
            <a:r>
              <a:rPr sz="1050" b="0">
                <a:solidFill>
                  <a:srgbClr val="0B0B0B"/>
                </a:solidFill>
                <a:latin typeface="Calibri"/>
              </a:rPr>
              <a:t>Trailing-12m window = Oct 2025 – Sep 2026 (the final 12 rows).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27247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A7  </a:t>
            </a:r>
            <a:r>
              <a:rPr sz="1050" b="0">
                <a:solidFill>
                  <a:srgbClr val="0B0B0B"/>
                </a:solidFill>
                <a:latin typeface="Calibri"/>
              </a:rPr>
              <a:t>CAC = Σ S&amp;M over trailing 12m ÷ Σ new customers over trailing 12m = $509,044.99 ÷ 434 = $1,172.91.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11879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A8  </a:t>
            </a:r>
            <a:r>
              <a:rPr sz="1050" b="0">
                <a:solidFill>
                  <a:srgbClr val="0B0B0B"/>
                </a:solidFill>
                <a:latin typeface="Calibri"/>
              </a:rPr>
              <a:t>ARPA = Sep 2026 MRR ÷ active customers = $178,857.07 ÷ 757 = $236.27.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27347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A9  </a:t>
            </a:r>
            <a:r>
              <a:rPr sz="1050" b="0">
                <a:solidFill>
                  <a:srgbClr val="0B0B0B"/>
                </a:solidFill>
                <a:latin typeface="Calibri"/>
              </a:rPr>
              <a:t>LTV = ARPA × avg gross margin (L12) ÷ avg monthly churn (L12) = $8,019.93; simple churn-only formula as specified (constant GM/churn, no discounting).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11979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A10  </a:t>
            </a:r>
            <a:r>
              <a:rPr sz="1050" b="0">
                <a:solidFill>
                  <a:srgbClr val="0B0B0B"/>
                </a:solidFill>
                <a:latin typeface="Calibri"/>
              </a:rPr>
              <a:t>CAC payback = CAC ÷ (ARPA × avg GM) = 6.44 months.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234440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B1  </a:t>
            </a:r>
            <a:r>
              <a:rPr sz="1050" b="0">
                <a:solidFill>
                  <a:srgbClr val="0B0B0B"/>
                </a:solidFill>
                <a:latin typeface="Calibri"/>
              </a:rPr>
              <a:t>DCF revenue year 0 = Σ of last 12 MRR = $1,723,316.18 (MRR treated as recognized monthly revenue).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19072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B2  </a:t>
            </a:r>
            <a:r>
              <a:rPr sz="1050" b="0">
                <a:solidFill>
                  <a:srgbClr val="0B0B0B"/>
                </a:solidFill>
                <a:latin typeface="Calibri"/>
              </a:rPr>
              <a:t>Revenue growth years 1–5: 25%, 21%, 17%, 13%, 10%.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34540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B3  </a:t>
            </a:r>
            <a:r>
              <a:rPr sz="1050" b="0">
                <a:solidFill>
                  <a:srgbClr val="0B0B0B"/>
                </a:solidFill>
                <a:latin typeface="Calibri"/>
              </a:rPr>
              <a:t>FCF margin years 1–5: 15%, 17.5%, 20%, 22.5%, 25%.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50008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B4  </a:t>
            </a:r>
            <a:r>
              <a:rPr sz="1050" b="0">
                <a:solidFill>
                  <a:srgbClr val="0B0B0B"/>
                </a:solidFill>
                <a:latin typeface="Calibri"/>
              </a:rPr>
              <a:t>Discount rate 12%; initial investment −$5,000,000 at year 0; no terminal value.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65476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B5  </a:t>
            </a:r>
            <a:r>
              <a:rPr sz="1050" b="0">
                <a:solidFill>
                  <a:srgbClr val="0B0B0B"/>
                </a:solidFill>
                <a:latin typeface="Calibri"/>
              </a:rPr>
              <a:t>Excel: NPV = NPV(rate, FCF1:FCF5) + FCF0; IRR = IRR(FCF0:FCF5).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80944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B6  </a:t>
            </a:r>
            <a:r>
              <a:rPr sz="1050" b="0">
                <a:solidFill>
                  <a:srgbClr val="0B0B0B"/>
                </a:solidFill>
                <a:latin typeface="Calibri"/>
              </a:rPr>
              <a:t>Loan: $2,000,000 principal, 7.00% nominal annual rate (monthly 0.5833%), 60 equal monthly payments via =PMT() = $39,602.40; full schedule in model.xlsx.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465576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B7  </a:t>
            </a:r>
            <a:r>
              <a:rPr sz="1050" b="0">
                <a:solidFill>
                  <a:srgbClr val="0B0B0B"/>
                </a:solidFill>
                <a:latin typeface="Calibri"/>
              </a:rPr>
              <a:t>Use-of-funds split (40/30/20/10) is an illustrative management assumption.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781044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B8  </a:t>
            </a:r>
            <a:r>
              <a:rPr sz="1050" b="0">
                <a:solidFill>
                  <a:srgbClr val="0B0B0B"/>
                </a:solidFill>
                <a:latin typeface="Calibri"/>
              </a:rPr>
              <a:t>All figures USD; no inflation or FX adjustment; headcount 34 at period 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096511"/>
            <a:ext cx="5532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2A78D6"/>
                </a:solidFill>
                <a:latin typeface="Calibri"/>
              </a:rPr>
              <a:t>B9  </a:t>
            </a:r>
            <a:r>
              <a:rPr sz="1050" b="0">
                <a:solidFill>
                  <a:srgbClr val="0B0B0B"/>
                </a:solidFill>
                <a:latin typeface="Calibri"/>
              </a:rPr>
              <a:t>model.xlsx holds live formulas only — raw data plus formulas on 'unit_economics', 'dcf' and 'loan'; no metric was pasted as a static number.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Bluebell SaaS Pte Ltd  ·  Investor Update, Q3 2026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Appendix B — reconciliation vs prior board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A44"/>
                </a:solidFill>
                <a:latin typeface="Calibri"/>
              </a:rPr>
              <a:t>Comparison with slide 7 of last quarter's board deck ("Q2 Board Update — Unit Economics"):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8311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2377440"/>
                <a:gridCol w="3017520"/>
                <a:gridCol w="277063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Board deck (Q2)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This update (recomputed)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R="73152"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CAC (trailing 12 months)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$1,583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$1,172.91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E34948"/>
                          </a:solidFill>
                          <a:latin typeface="Calibri"/>
                        </a:rPr>
                        <a:t>CONFLICT — corrected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BAF7A"/>
                          </a:solidFill>
                          <a:latin typeface="Calibri"/>
                        </a:rPr>
                        <a:t>Matches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CAC payback (months)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BAF7A"/>
                          </a:solidFill>
                          <a:latin typeface="Calibri"/>
                        </a:rPr>
                        <a:t>Matches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ARPA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BAF7A"/>
                          </a:solidFill>
                          <a:latin typeface="Calibri"/>
                        </a:rPr>
                        <a:t>Matches</a:t>
                      </a:r>
                    </a:p>
                  </a:txBody>
                  <a:tcPr marL="91440" marR="73152" marT="27432" marB="27432" anchor="ctr"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LTV / CAC (derived)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5.07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6.84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E34948"/>
                          </a:solidFill>
                          <a:latin typeface="Calibri"/>
                        </a:rPr>
                        <a:t>CONFLICT — corrected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892040"/>
            <a:ext cx="11183112" cy="1325880"/>
          </a:xfrm>
          <a:prstGeom prst="roundRect">
            <a:avLst/>
          </a:prstGeom>
          <a:solidFill>
            <a:srgbClr val="FCF1EE"/>
          </a:solidFill>
          <a:ln w="9525">
            <a:solidFill>
              <a:srgbClr val="E34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02920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E34948"/>
                </a:solidFill>
                <a:latin typeface="Calibri"/>
              </a:rPr>
              <a:t>Conflict &amp; correction:  </a:t>
            </a:r>
            <a:r>
              <a:rPr sz="1200" b="0">
                <a:solidFill>
                  <a:srgbClr val="0B0B0B"/>
                </a:solidFill>
                <a:latin typeface="Calibri"/>
              </a:rPr>
              <a:t>the Q2 board deck reported CAC of $1,583. Applying the stated definition to the trailing-12m data gives $1,172.91 (S&amp;M $509,044.99 ÷ 434 new customers); no 12-month window in the data produces $1,583, so the earlier figure was erroneous. Derived LTV/CAC corrects from 5.07 to 6.84. LTV ($8,019.93), payback (6.44) and ARPA ($236.27) matched exactly and are reaffirmed.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Bluebell SaaS Pte Ltd  ·  Investor Update, Q3 2026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