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Investor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FD3F0"/>
                </a:solidFill>
                <a:latin typeface="Calibri"/>
              </a:rPr>
              <a:t>BLUEBELL SAAS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A4A"/>
                </a:solidFill>
                <a:latin typeface="Calibri"/>
              </a:rPr>
              <a:t>Q3 2026 · 36-month review, October 2023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Prepared 11 Sep 2026. All figures derive from the company's monthly finance export; unit economics on a trailing-12-month basis. Accompanying CFO model: Bluebell_Investor_Model.xlsx (live formulas).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The numbers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$2.15M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ARR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MRR $178.9k at 30 Sep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2988" y="1417320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+69.7%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MRR growth, year over year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+93.7% a year earlier; scaling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2988" y="1417320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417320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757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Active customers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120 at start; +271 net over last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417320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93124" y="1417320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$236.27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ARPA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Up 34% from $176.58 in Oct 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3124" y="1417320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58768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77.1%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Gross margin (TTM)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73.2% at Sep 2024; 76.6% at end 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2988" y="3858768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$1,173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CAC (TTM, gross adds)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S&amp;M $509k ÷ 434 new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2988" y="3858768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3858768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6.44 mo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CAC payback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Stable all year (Q2: 6.42)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858768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3124" y="3858768"/>
            <a:ext cx="2683764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201168" rIns="109728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A"/>
                </a:solidFill>
                <a:latin typeface="Calibri"/>
              </a:rPr>
              <a:t>6.8x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LTV / CAC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LTV $8,029; ratio was 5.1x at Sep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3124" y="3858768"/>
            <a:ext cx="2683764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TTM revenue $1.72M · S&amp;M intensity 29.5% of revenue · contribution after COGS and S&amp;M 47.6% · Rule-of-40 proxy (YoY growth + contribution margin) ≈ 117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MRR grew 7.8x in 36 months; ARR now $2.15M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hart_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03720" cy="31066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99248" y="1463040"/>
            <a:ext cx="3986784" cy="4800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91440"/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MRR $23.0k → $178.9k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7.79× over the period; 6.04% monthly CAGR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Crossed $2M ARR in August 2026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$1.96M Jul → $2.09M Aug → $2.15M Sep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Q3 net MRR add: $19.2k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+12.0% QoQ (Q2: +15.8%)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TTM revenue $1.72M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Sum of MRR, Oct 2025 – Sep 2026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No lost-month pattern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MRR rose in every month of the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Growth is decelerating off a larger base — still ~70% YoY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har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03720" cy="31066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99248" y="1463040"/>
            <a:ext cx="3986784" cy="4800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91440"/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69.7% YoY at Sep 2026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93.7% at Sep 2025 — expected as the base scales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Absolute adds keep compounding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Last 12m added $73.4k MRR vs $51.0k the prior year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Growth stays efficient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S&amp;M = 29.5% of TTM revenue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Rule-of-40 proxy ≈ 117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69.7% YoY growth + 47.6% contribution margin (after COGS &amp; S&amp;M)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Watch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Further moderation in 2027 as ARR base compounds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CUSTOMER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120 → 757 customers; churn rate nearly halved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char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67512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99248" y="1463040"/>
            <a:ext cx="3986784" cy="448056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91440"/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981 new customers, 344 churned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36-month gross flows; 637 cumulative net adds (981 − 344)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Last 12m: 434 new · 163 out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271 net adds TTM; 78 in Q3 alone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Monthly logo churn 3.33% → 2.05%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Annualised logo retention ≈ 76%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Acquisition accelerated in Q3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41 new logos in each of Jul/Aug/Sep — record run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Data note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No expansion/contraction split in source data; MRR-based NRR not calculable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ARPA and gross margin rising; CAC stable near $1.2k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chart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64465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99248" y="1463040"/>
            <a:ext cx="3986784" cy="4800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91440"/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ARPA $197.9 → $236.27 (TTM window)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Pricing/mix tailwind; +$1.14 QoQ vs Jun ($235.13)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Gross margin 73.2% → 77.1%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TTM basis; 78.0% in September alone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Headline CAC: $1,173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S&amp;M ÷ GROSS new customers — standard definition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Net-add CAC: $1,878 (dashed)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S&amp;M ÷ net adds; NOT comparable — this is the basis behind the board's $1,583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LTV $8,029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ARPA × GM ÷ avg monthly logo churn (2.27%)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S&amp;M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LTV/CAC improved from 5.1x to 6.8x; payback holds ~6.4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chart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03720" cy="29685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99248" y="1463040"/>
            <a:ext cx="3986784" cy="4800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91440"/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LTV/CAC 5.1x → 6.8x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Rising ARPA &amp; margin against broadly stable CAC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Payback range-bound 6.3–6.55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Despite S&amp;M rising to $509k TTM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June spike absorbed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$53k S&amp;M / 42 adds; efficiency recovered Jul–Sep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ARR per employee $63.1k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Headcount 34 at Sep 2026; ratio improving with scale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•  Bottom line</a:t>
            </a:r>
          </a:p>
          <a:p>
            <a:pPr>
              <a:spcAft>
                <a:spcPts val="1000"/>
              </a:spcAft>
            </a:pPr>
            <a:r>
              <a:rPr sz="950" i="1">
                <a:solidFill>
                  <a:srgbClr val="52514E"/>
                </a:solidFill>
              </a:rPr>
              <a:t>     Every $1 of S&amp;M is returning ~$6.85 of steady-state gross profit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Conflict check: prior board deck, slide 7 vs. current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Q2 board deck (“Source: finance model, end of Q2”) reported four unit-economics figures. Recomputed from the same source data: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234440"/>
                <a:gridCol w="2148840"/>
                <a:gridCol w="6199632"/>
              </a:tblGrid>
              <a:tr h="79552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73152" marT="45720" marB="45720" anchor="ctr">
                    <a:solidFill>
                      <a:srgbClr val="1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Board
deck</a:t>
                      </a:r>
                    </a:p>
                  </a:txBody>
                  <a:tcPr marL="91440" marR="73152" marT="45720" marB="45720" anchor="ctr">
                    <a:solidFill>
                      <a:srgbClr val="1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Recomputed
(Sep 2026 / Jun 2026)</a:t>
                      </a:r>
                    </a:p>
                  </a:txBody>
                  <a:tcPr marL="91440" marR="73152" marT="45720" marB="45720" anchor="ctr">
                    <a:solidFill>
                      <a:srgbClr val="1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91440" marR="73152" marT="45720" marB="45720" anchor="ctr">
                    <a:solidFill>
                      <a:srgbClr val="1F2A4A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A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$236.27 / $235.13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8A5A00"/>
                          </a:solidFill>
                          <a:latin typeface="Calibri"/>
                        </a:rPr>
                        <a:t>Matches Sep-2026 EXACTLY — not end-Q2. The slide is mislabeled: it carries a Q3 number.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A"/>
                          </a:solidFill>
                          <a:latin typeface="Calibri"/>
                        </a:rPr>
                        <a:t>CAC (TTM)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$1,583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$1,173 / $1,157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02A2A"/>
                          </a:solidFill>
                          <a:latin typeface="Calibri"/>
                        </a:rPr>
                        <a:t>CONFLICT. Standard CAC (S&amp;M ÷ gross new customers) is $1,173. $1,583 only appears as S&amp;M ÷ NET adds around Aug 2025 ($1,579) — wrong denominator AND stale by a year.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A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$8,028.95 / $7,608.25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0B0B0B"/>
                          </a:solidFill>
                          <a:latin typeface="Calibri"/>
                        </a:rPr>
                        <a:t>Within ~$9 (0.1%) of the current-cut LTV; exact figure not reproducible under any window/method tested. End-Q2 was $7,608, so not a Q2 figure either.</a:t>
                      </a:r>
                    </a:p>
                  </a:txBody>
                  <a:tcPr marL="91440" marR="73152" marT="45720" marB="45720" anchor="ctr">
                    <a:solidFill>
                      <a:srgbClr val="F4F7FB"/>
                    </a:solidFill>
                  </a:tcPr>
                </a:tc>
              </a:tr>
              <a:tr h="79553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A"/>
                          </a:solidFill>
                          <a:latin typeface="Calibri"/>
                        </a:rPr>
                        <a:t>Payback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6.44 mo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6.44 / 6.42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8A5A00"/>
                          </a:solidFill>
                          <a:latin typeface="Calibri"/>
                        </a:rPr>
                        <a:t>Matches Sep-2026 EXACTLY. Internally inconsistent with the slide's own $1,583 CAC: 6.44 × $236.27 × 77.1% implies CAC ≈ $1,174.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Net: the $1,583 CAC should be corrected to $1,173 (gross-add basis) before external reuse. Full line-by-line math in the model, sheet “Slide7_Reconciliation”.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4A"/>
                </a:solidFill>
                <a:latin typeface="Calibri"/>
              </a:rPr>
              <a:t>Methodology, assumptions and watch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240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· Investor Update · data through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4A"/>
                </a:solidFill>
                <a:latin typeface="Calibri"/>
              </a:rPr>
              <a:t>Definitions (trailing 12 months unless noted)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ARPA = month-end MRR ÷ active customers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Gross margin = (MRR − COGS) ÷ MRR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Logo churn = churned ÷ beginning customers; LTV churn input = average of 12 monthly rates (2.27%)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CAC = S&amp;M ÷ gross new customers; payback = CAC ÷ (ARPA × gross margin)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LTV = ARPA × gross margin ÷ monthly churn, undiscounted steady state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4A"/>
                </a:solidFill>
                <a:latin typeface="Calibri"/>
              </a:rPr>
              <a:t>Assumptions &amp; data caveats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120 customers at 30 Sep 2023 (given); rollforward ends at 757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MRR treated as recognised monthly revenue; only COGS and S&amp;M cost lines were provided — no payroll/other opex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No expansion/contraction split: logo retention used; MRR NRR not calculable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 Every figure ties to Bluebell_Investor_Model.xlsx with live formulas (Notes sheet documents all inputs)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349240" cy="4480560"/>
          </a:xfrm>
          <a:prstGeom prst="rect">
            <a:avLst/>
          </a:prstGeom>
          <a:solidFill>
            <a:srgbClr val="F4F7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4A"/>
                </a:solidFill>
                <a:latin typeface="Calibri"/>
              </a:rPr>
              <a:t>What we're watching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•  Growth deceleration</a:t>
            </a:r>
          </a:p>
          <a:p>
            <a:pPr>
              <a:spcAft>
                <a:spcPts val="900"/>
              </a:spcAft>
            </a:pPr>
            <a:r>
              <a:rPr sz="1050">
                <a:solidFill>
                  <a:srgbClr val="52514E"/>
                </a:solidFill>
              </a:rPr>
              <a:t>     69.7% YoY and moderating; the FY27 plan should assume a smaller growth rate off $2.15M ARR.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•  Absolute churn volume</a:t>
            </a:r>
          </a:p>
          <a:p>
            <a:pPr>
              <a:spcAft>
                <a:spcPts val="900"/>
              </a:spcAft>
            </a:pPr>
            <a:r>
              <a:rPr sz="1050">
                <a:solidFill>
                  <a:srgbClr val="52514E"/>
                </a:solidFill>
              </a:rPr>
              <a:t>     163 logos lost TTM even at a falling rate — retention work compounds on a 757 base.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•  CAC discipline</a:t>
            </a:r>
          </a:p>
          <a:p>
            <a:pPr>
              <a:spcAft>
                <a:spcPts val="900"/>
              </a:spcAft>
            </a:pPr>
            <a:r>
              <a:rPr sz="1050">
                <a:solidFill>
                  <a:srgbClr val="52514E"/>
                </a:solidFill>
              </a:rPr>
              <a:t>     Net-add CAC rose $1,624 → $1,878 over the last 12 months; gross-add CAC is roughly flat, but S&amp;M efficiency must hold if adds keep accelerating.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•  Reporting hygiene</a:t>
            </a:r>
          </a:p>
          <a:p>
            <a:pPr>
              <a:spcAft>
                <a:spcPts val="900"/>
              </a:spcAft>
            </a:pPr>
            <a:r>
              <a:rPr sz="1050">
                <a:solidFill>
                  <a:srgbClr val="52514E"/>
                </a:solidFill>
              </a:rPr>
              <a:t>     Adopt one CAC definition (gross adds) across board and investor materials; correct the Q2 deck's $1,583.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