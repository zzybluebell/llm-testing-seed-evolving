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E0F0"/>
                </a:solidFill>
                <a:latin typeface="Calibri"/>
              </a:rPr>
              <a:t>BLUEBELL SaaS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72865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D6E0F0"/>
                </a:solidFill>
                <a:latin typeface="Calibri"/>
              </a:rPr>
              <a:t>Financial &amp; Unit-Economics Review  |  FY24–FY26 (36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Calibri"/>
              </a:rPr>
              <a:t>Reporting period: October 2023 – September 2026   •   Prepared 11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Key metrics as of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8132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A78D6"/>
                </a:solidFill>
                <a:latin typeface="Calibri"/>
              </a:rPr>
              <a:t>$178,857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MRR (latest month)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48132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A78D6"/>
                </a:solidFill>
                <a:latin typeface="Calibri"/>
              </a:rPr>
              <a:t>757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93852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Active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37160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48132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A78D6"/>
                </a:solidFill>
                <a:latin typeface="Calibri"/>
              </a:rPr>
              <a:t>77.1%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93852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Gross margin (12-mo avg)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37160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37160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7192" y="148132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A78D6"/>
                </a:solidFill>
                <a:latin typeface="Calibri"/>
              </a:rPr>
              <a:t>$1,172.91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193852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CAC (12-mo trailing)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632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06324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17296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A78D6"/>
                </a:solidFill>
                <a:latin typeface="Calibri"/>
              </a:rPr>
              <a:t>$8,019.93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6301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LTV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0632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06324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3592" y="317296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CA30C"/>
                </a:solidFill>
                <a:latin typeface="Calibri"/>
              </a:rPr>
              <a:t>6.84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36301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LTV / CAC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632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06324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317296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A78D6"/>
                </a:solidFill>
                <a:latin typeface="Calibri"/>
              </a:rPr>
              <a:t>6.44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36301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CAC payback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30632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3063240"/>
            <a:ext cx="64008" cy="1417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37192" y="3172968"/>
            <a:ext cx="2468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A78D6"/>
                </a:solidFill>
                <a:latin typeface="Calibri"/>
              </a:rPr>
              <a:t>2.27%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7192" y="36301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Monthly churn (12-mo avg)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92040"/>
            <a:ext cx="11277295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252"/>
                </a:solidFill>
                <a:latin typeface="Calibri"/>
              </a:rPr>
              <a:t>Highlights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252"/>
                </a:solidFill>
                <a:latin typeface="Calibri"/>
              </a:rPr>
              <a:t>•  MRR grew from $22,955 (Oct-23) to $178,857 (Sep-26) — a 7.8x increase over 36 months.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252"/>
                </a:solidFill>
                <a:latin typeface="Calibri"/>
              </a:rPr>
              <a:t>•  Active customer base expanded from 120 to 757, with consistently low monthly churn (~2.3% trailing 12).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252"/>
                </a:solidFill>
                <a:latin typeface="Calibri"/>
              </a:rPr>
              <a:t>•  Healthy unit economics: LTV/CAC of 6.84 and CAC payback of 6.44 months.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252"/>
                </a:solidFill>
                <a:latin typeface="Calibri"/>
              </a:rPr>
              <a:t>•  Gross margin improved steadily from 72.0% to 78.0% and averages 77.1% over the trailing 12 months.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MRR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Monthly recurring revenue, Oct 2023 –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pic>
        <p:nvPicPr>
          <p:cNvPr id="8" name="Picture 7" descr="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680960" cy="35982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371600"/>
            <a:ext cx="3291840" cy="4572000"/>
          </a:xfrm>
          <a:prstGeom prst="rect">
            <a:avLst/>
          </a:prstGeom>
          <a:solidFill>
            <a:srgbClr val="F4F5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74519"/>
            <a:ext cx="292608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Latest MRR: $178,857.07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36-month growth: 7.8x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Trailing-12 revenue: $1,723,316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Compound monthly growth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   over the period: ~6.0%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MRR expanded every single month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without a sequential decline,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reflecting durable net revenue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retention and consistent new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logo acquisition.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Gross Margin &amp; Cost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Latest month (Sep 2026) and 12-month averages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Latest month cost structure (Sep 2026)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91640"/>
          <a:ext cx="5486399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1750"/>
                <a:gridCol w="1714500"/>
                <a:gridCol w="1200149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% of MRR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$178,857.07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COGS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$39,348.56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$139,508.51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78.0%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Sales &amp; marketing spend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$48,686.47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27.2%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Headcount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1280160"/>
            <a:ext cx="5349240" cy="4297680"/>
          </a:xfrm>
          <a:prstGeom prst="rect">
            <a:avLst/>
          </a:prstGeom>
          <a:solidFill>
            <a:srgbClr val="F4F5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Gross margin trajectory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02920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Latest-month gross margin: 78.0%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First-month gross margin (Oct-23): 72.0%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Trailing-12 average gross margin: 77.06%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Improvement of ~6.0 pts over the period as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   COGS scaled sub-linearly with MRR.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Monthly churn (trailing-12 avg): 2.27%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Sales &amp; marketing remains the largest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   discretionary cost line at ~27% of MRR.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Cost structure has become progressively more efficient: COGS as a share of MRR fell from 28.0% to 22.0%, widening gross profit available for growth investment.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Customer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New vs churned customers per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pic>
        <p:nvPicPr>
          <p:cNvPr id="8" name="Picture 7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680960" cy="35938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58200" y="1371600"/>
            <a:ext cx="3291840" cy="4572000"/>
          </a:xfrm>
          <a:prstGeom prst="rect">
            <a:avLst/>
          </a:prstGeom>
          <a:solidFill>
            <a:srgbClr val="F4F5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81328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74519"/>
            <a:ext cx="292608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Active customers: 120 → 757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Net adds over period: +637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Trailing-12 monthly churn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   avg: 2.27%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•  New-customer acquisition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   accelerated in FY26, peaking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   at 42 net adds in Jun-26.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Churn stayed within a tight 2–3%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monthly band, keeping net growth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252"/>
                </a:solidFill>
                <a:latin typeface="Calibri"/>
              </a:rPr>
              <a:t>strongly positive throughout.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As of September 2026 (trailing 12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17320"/>
          <a:ext cx="11247118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9633"/>
                <a:gridCol w="1760418"/>
                <a:gridCol w="6357067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CAC (trailing 12 months)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$1,172.91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Sum of S&amp;M spend / sum of new customers, last 12 mo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LTV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$8,019.93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ARPA × avg gross margin / avg monthly churn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LTV / CAC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6.84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LTV divided by CAC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CAC payback (months)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6.44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CAC / (ARPA × avg gross margin, 12 mo)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$236.27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Latest-month MRR / latest-month active customers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Average gross margin (12 mo)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77.06%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Mean monthly (MRR−COGS)/MRR, last 12 mo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Calibri"/>
                        </a:rPr>
                        <a:t>Average monthly churn (12 mo)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2.27%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Mean churned / prior active, last 12 mo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25252"/>
                </a:solidFill>
                <a:latin typeface="Calibri"/>
              </a:rPr>
              <a:t>LTV/CAC of 6.84 and CAC payback of 6.44 months indicate capital-efficient growth: each dollar of customer acquisition cost is repaid in roughly six and a half months and returns ~6.8x over the customer lifetime.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DCF Valuation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5-year FCF model — assumptions and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45920"/>
          <a:ext cx="557784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704"/>
                <a:gridCol w="2231136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Revenue, Year 0 (sum last-12 MRR)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$1,723,316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Growth Y1–Y5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25% / 21% / 17% / 13% / 10%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FCF margin Y1–Y5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15% / 17.5% / 20% / 22.5% / 25%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Discount rate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Initial investment (Year 0)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($5,000,000)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2801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5-year FCF line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645920"/>
          <a:ext cx="5349239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/>
                <a:gridCol w="1426464"/>
                <a:gridCol w="855878"/>
                <a:gridCol w="1069848"/>
                <a:gridCol w="1283817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FCF margin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FCF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$2,154,145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15.0%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$323,122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$2,606,516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17.5%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$456,140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$3,049,623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$609,925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Year 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$3,446,074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22.5%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$775,367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Year 5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$3,790,682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$947,670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297680"/>
            <a:ext cx="5577840" cy="1463040"/>
          </a:xfrm>
          <a:prstGeom prst="rect">
            <a:avLst/>
          </a:prstGeom>
          <a:solidFill>
            <a:srgbClr val="F4F5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07408"/>
            <a:ext cx="5212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NPV (5-yr FCF incl. Year 0, no terminal value)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5212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03B3B"/>
                </a:solidFill>
                <a:latin typeface="Calibri"/>
              </a:rPr>
              <a:t>$-2,883,241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297680"/>
            <a:ext cx="5349240" cy="1463040"/>
          </a:xfrm>
          <a:prstGeom prst="rect">
            <a:avLst/>
          </a:prstGeom>
          <a:solidFill>
            <a:srgbClr val="F4F5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407408"/>
            <a:ext cx="5029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25252"/>
                </a:solidFill>
                <a:latin typeface="Calibri"/>
              </a:rPr>
              <a:t>IRR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03B3B"/>
                </a:solidFill>
                <a:latin typeface="Calibri"/>
              </a:rPr>
              <a:t>-12.29%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525252"/>
                </a:solidFill>
                <a:latin typeface="Calibri"/>
              </a:rPr>
              <a:t>Note: the model deliberately excludes a terminal value. Without one, the 5-year FCF stream does not recover the $5M Year-0 investment (negative NPV/IRR); this frames the valuation floor. See the model.xlsx 'dcf' sheet for live formulas.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Proposed $2.0M growth facility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252"/>
                </a:solidFill>
                <a:latin typeface="Calibri"/>
              </a:rPr>
              <a:t>A 60-month, 7% p.a. term loan (principal $2,000,000) to fund the next phase of growth: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28800"/>
          <a:ext cx="1124712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914400"/>
                <a:gridCol w="1828800"/>
                <a:gridCol w="576072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Allocation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Sales &amp; marketing expansion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$800,000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Accelerate new-logo acquisition and expand the SDR/AE team.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Product &amp; engineering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$600,000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Platform scalability, integrations, and gross-margin-protecting automation.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Customer success &amp; retention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$300,000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Onboarding and CS headcount to protect the sub-2.5% monthly churn.</a:t>
                      </a:r>
                    </a:p>
                  </a:txBody>
                  <a:tcPr anchor="ctr" marL="76200" marR="76200" marT="25400" marB="25400">
                    <a:solidFill>
                      <a:srgbClr val="F4F5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Working capital &amp; buffer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$300,000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Operating reserve to absorb ramp and timing variability.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solidFill>
            <a:srgbClr val="F4F5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681728"/>
            <a:ext cx="109728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Loan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Principal: $2,000,000   •   Annual rate: 7%   •   Term: 60 equal monthly payments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Monthly payment: $39,602.40   •   Total interest over life: $376,143.82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25252"/>
                </a:solidFill>
                <a:latin typeface="Calibri"/>
              </a:rPr>
              <a:t>•  Full amortization schedule in model.xlsx 'loan' sheet (60 rows, ending balance → 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Appendix — Assumptions &amp;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27729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6E0F0"/>
                </a:solidFill>
                <a:latin typeface="Calibri"/>
              </a:rPr>
              <a:t>All assumptions stated; board-deck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Bluebell SaaS Pte Ltd  |  Investor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51052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577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Active-customer roll-forward starts at 120 (Oct-23); each month = prior active + new − churned.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Gross margin = (MRR − COGS) / MRR, per month.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Monthly churn = churned customers / prior-month active customers.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CAC (trailing 12) = Σ sales &amp; marketing spend / Σ new customers, over the trailing 12 months.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ARPA = latest-month MRR / latest-month active customers.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LTV = ARPA × (avg gross margin, 12 mo) / (avg monthly churn, 12 mo).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CAC payback = CAC / (ARPA × avg gross margin, 12 mo).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DCF Revenue Year 0 = Σ MRR over the last 12 months.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DCF growth Y1–Y5 = 25%, 21%, 17%, 13%, 10%; FCF margin Y1–Y5 = 15%, 17.5%, 20%, 22.5%, 25%.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DCF discount rate = 12%; Year-0 investment = −$5,000,000; no terminal value included.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Loan: principal $2,000,000; 7% p.a.; 60 equal monthly payments; standard amortization.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>
                <a:solidFill>
                  <a:srgbClr val="525252"/>
                </a:solidFill>
                <a:latin typeface="Calibri"/>
              </a:rPr>
              <a:t>•  All Excel figures are live formulas in model.xlsx (sheets: raw, unit_economics, dcf, loan) — no pasted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40680"/>
            <a:ext cx="11247120" cy="1051560"/>
          </a:xfrm>
          <a:prstGeom prst="rect">
            <a:avLst/>
          </a:prstGeom>
          <a:solidFill>
            <a:srgbClr val="FDF1E6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50468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Reconciliation vs. last board deck (slide 7, "end of Q2")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15584"/>
            <a:ext cx="109728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25252"/>
                </a:solidFill>
                <a:latin typeface="Calibri"/>
              </a:rPr>
              <a:t>Board deck stated: CAC $1,583, LTV $8,019.93, CAC payback 6.44, ARPA $236.27. LTV, CAC payback and ARPA reconcile to this update. CAC conflicts: deck shows $1,583; recomputed (trailing-12 Σ S&amp;M / Σ new customers) = $1,172.91 — corrected value used throughout. (The deck's $1,583 does not match any 12-month CAC window in the underlying data.)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