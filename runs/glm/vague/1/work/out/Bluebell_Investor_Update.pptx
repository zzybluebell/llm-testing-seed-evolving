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9EC5F4"/>
                </a:solidFill>
                <a:latin typeface="Calibri"/>
              </a:rPr>
              <a:t>BLUEBELL 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Investor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65760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C3C2B7"/>
                </a:solidFill>
                <a:latin typeface="Calibri"/>
              </a:rPr>
              <a:t>36-month operating review · Oct 2023 –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48640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8A99B5"/>
                </a:solidFill>
                <a:latin typeface="Calibri"/>
              </a:rPr>
              <a:t>Prepared 10 September 2026 · Figures in USD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C5CAB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The numbers that matter, as of Sep-2026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92608"/>
            <a:ext cx="914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98781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261518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45336"/>
            <a:ext cx="22860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MRR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37944"/>
            <a:ext cx="22860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B0B0B"/>
                </a:solidFill>
                <a:latin typeface="Calibri"/>
              </a:rPr>
              <a:t>$178,857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50008"/>
            <a:ext cx="2286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BAF7A"/>
                </a:solidFill>
                <a:latin typeface="Calibri"/>
              </a:rPr>
              <a:t>+679% over 36 months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0984" y="1417320"/>
            <a:ext cx="261518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5576" y="1545336"/>
            <a:ext cx="22860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Active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5576" y="1837944"/>
            <a:ext cx="22860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B0B0B"/>
                </a:solidFill>
                <a:latin typeface="Calibri"/>
              </a:rPr>
              <a:t>757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5576" y="2350008"/>
            <a:ext cx="2286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BAF7A"/>
                </a:solidFill>
                <a:latin typeface="Calibri"/>
              </a:rPr>
              <a:t>130 → 757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9048" y="1417320"/>
            <a:ext cx="261518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545336"/>
            <a:ext cx="22860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TTM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37944"/>
            <a:ext cx="22860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B0B0B"/>
                </a:solidFill>
                <a:latin typeface="Calibri"/>
              </a:rPr>
              <a:t>$1.7M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350008"/>
            <a:ext cx="2286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BAF7A"/>
                </a:solidFill>
                <a:latin typeface="Calibri"/>
              </a:rPr>
              <a:t>+78% YoY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97112" y="1417320"/>
            <a:ext cx="261518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1704" y="1545336"/>
            <a:ext cx="22860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Rule of 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1704" y="1837944"/>
            <a:ext cx="22860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B0B0B"/>
                </a:solidFill>
                <a:latin typeface="Calibri"/>
              </a:rPr>
              <a:t>125%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1704" y="2350008"/>
            <a:ext cx="2286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BAF7A"/>
                </a:solidFill>
                <a:latin typeface="Calibri"/>
              </a:rPr>
              <a:t>Growth 78% + margin 48%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898648"/>
            <a:ext cx="261518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3026664"/>
            <a:ext cx="22860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Gross margin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3319272"/>
            <a:ext cx="22860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B0B0B"/>
                </a:solidFill>
                <a:latin typeface="Calibri"/>
              </a:rPr>
              <a:t>78.0%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" y="3831336"/>
            <a:ext cx="2286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BAF7A"/>
                </a:solidFill>
                <a:latin typeface="Calibri"/>
              </a:rPr>
              <a:t>+5.7pp vs start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00984" y="2898648"/>
            <a:ext cx="261518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65576" y="3026664"/>
            <a:ext cx="22860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Net revenue retention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65576" y="3319272"/>
            <a:ext cx="22860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B0B0B"/>
                </a:solidFill>
                <a:latin typeface="Calibri"/>
              </a:rPr>
              <a:t>~98%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65576" y="3831336"/>
            <a:ext cx="2286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BAF7A"/>
                </a:solidFill>
                <a:latin typeface="Calibri"/>
              </a:rPr>
              <a:t>Churn 2.1% / month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9048" y="2898648"/>
            <a:ext cx="261518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3026664"/>
            <a:ext cx="22860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LTV : CAC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319272"/>
            <a:ext cx="22860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B0B0B"/>
                </a:solidFill>
                <a:latin typeface="Calibri"/>
              </a:rPr>
              <a:t>7.7x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831336"/>
            <a:ext cx="2286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BAF7A"/>
                </a:solidFill>
                <a:latin typeface="Calibri"/>
              </a:rPr>
              <a:t>Payback 6.4 months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97112" y="2898648"/>
            <a:ext cx="261518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61704" y="3026664"/>
            <a:ext cx="22860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Monthly contribution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61704" y="3319272"/>
            <a:ext cx="22860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B0B0B"/>
                </a:solidFill>
                <a:latin typeface="Calibri"/>
              </a:rPr>
              <a:t>$90,822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1704" y="3831336"/>
            <a:ext cx="2286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BAF7A"/>
                </a:solidFill>
                <a:latin typeface="Calibri"/>
              </a:rPr>
              <a:t>Profitable every month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343400"/>
            <a:ext cx="11155680" cy="1828800"/>
          </a:xfrm>
          <a:prstGeom prst="rect">
            <a:avLst/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480560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C5CAB"/>
                </a:solidFill>
                <a:latin typeface="Calibri"/>
              </a:rPr>
              <a:t>What the board should take away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4864608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C5CAB"/>
                </a:solidFill>
                <a:latin typeface="Calibri"/>
              </a:rPr>
              <a:t>•  </a:t>
            </a:r>
            <a:r>
              <a:rPr sz="1150" b="1">
                <a:solidFill>
                  <a:srgbClr val="0B0B0B"/>
                </a:solidFill>
                <a:latin typeface="Calibri"/>
              </a:rPr>
              <a:t>Scaling efficiently. </a:t>
            </a:r>
            <a:r>
              <a:rPr sz="1150" b="0">
                <a:solidFill>
                  <a:srgbClr val="0B0B0B"/>
                </a:solidFill>
                <a:latin typeface="Calibri"/>
              </a:rPr>
              <a:t>MRR grew from $23K to $179K (+679%) over 36 months while gross margin expanded from 72% to 78% — growth and margin improving together.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175504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C5CAB"/>
                </a:solidFill>
                <a:latin typeface="Calibri"/>
              </a:rPr>
              <a:t>•  </a:t>
            </a:r>
            <a:r>
              <a:rPr sz="1150" b="1">
                <a:solidFill>
                  <a:srgbClr val="0B0B0B"/>
                </a:solidFill>
                <a:latin typeface="Calibri"/>
              </a:rPr>
              <a:t>Unit economics are strong and durable. </a:t>
            </a:r>
            <a:r>
              <a:rPr sz="1150" b="0">
                <a:solidFill>
                  <a:srgbClr val="0B0B0B"/>
                </a:solidFill>
                <a:latin typeface="Calibri"/>
              </a:rPr>
              <a:t>LTV:CAC of 7.7x and 6.4-month payback have held above the 3x threshold for 2+ years; CAC is stable around $1.1–1.2K.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486400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C5CAB"/>
                </a:solidFill>
                <a:latin typeface="Calibri"/>
              </a:rPr>
              <a:t>•  </a:t>
            </a:r>
            <a:r>
              <a:rPr sz="1150" b="1">
                <a:solidFill>
                  <a:srgbClr val="0B0B0B"/>
                </a:solidFill>
                <a:latin typeface="Calibri"/>
              </a:rPr>
              <a:t>Rule of 40 at 125% </a:t>
            </a:r>
            <a:r>
              <a:rPr sz="1150" b="0">
                <a:solidFill>
                  <a:srgbClr val="0B0B0B"/>
                </a:solidFill>
                <a:latin typeface="Calibri"/>
              </a:rPr>
              <a:t>(78% growth + 48% contribution margin) puts the business well above the benchmark for SaaS at this stage.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797296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C5CAB"/>
                </a:solidFill>
                <a:latin typeface="Calibri"/>
              </a:rPr>
              <a:t>•  </a:t>
            </a:r>
            <a:r>
              <a:rPr sz="1150" b="1">
                <a:solidFill>
                  <a:srgbClr val="0B0B0B"/>
                </a:solidFill>
                <a:latin typeface="Calibri"/>
              </a:rPr>
              <a:t>Self-sustaining at the contribution line. </a:t>
            </a:r>
            <a:r>
              <a:rPr sz="1150" b="0">
                <a:solidFill>
                  <a:srgbClr val="0B0B0B"/>
                </a:solidFill>
                <a:latin typeface="Calibri"/>
              </a:rPr>
              <a:t>No month in the period had negative contribution profit; S&amp;M is funded out of gross profit.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98781"/>
                </a:solidFill>
                <a:latin typeface="Calibri"/>
              </a:rPr>
              <a:t>Bluebell SaaS · Investor Update · Sep 2026 ·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C5CAB"/>
                </a:solidFill>
                <a:latin typeface="Calibri"/>
              </a:rPr>
              <a:t>Revenue: durable, accelerating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TTM revenue $1.7M · 78% YoY · 98% 3-yr CAGR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92608"/>
            <a:ext cx="914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98781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m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589520" cy="350219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21040" y="1417320"/>
            <a:ext cx="3383280" cy="4572000"/>
          </a:xfrm>
          <a:prstGeom prst="rect">
            <a:avLst/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554480"/>
            <a:ext cx="3108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C5CAB"/>
                </a:solidFill>
                <a:latin typeface="Calibri"/>
              </a:rPr>
              <a:t>Revenue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057400"/>
            <a:ext cx="1828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TTM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057400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$1,723,316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441448"/>
            <a:ext cx="1828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Monthly MRR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441448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$178,857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825496"/>
            <a:ext cx="1828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YoY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825496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+78%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09544"/>
            <a:ext cx="1828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3-yr CAGR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209544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98%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593592"/>
            <a:ext cx="1828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ARPA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593592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$236.27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977640"/>
            <a:ext cx="1828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MRR / FTE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77640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$5,261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361688"/>
            <a:ext cx="1828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Headcount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361688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394960"/>
            <a:ext cx="31089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52514E"/>
                </a:solidFill>
                <a:latin typeface="Calibri"/>
              </a:rPr>
              <a:t>MRR slope has steepened through 2026 — the last quarter added $47K MRR, the strongest in the period.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98781"/>
                </a:solidFill>
                <a:latin typeface="Calibri"/>
              </a:rPr>
              <a:t>Bluebell SaaS · Investor Update · Sep 2026 ·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C5CAB"/>
                </a:solidFill>
                <a:latin typeface="Calibri"/>
              </a:rPr>
              <a:t>Customer base: compounding with low churn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120 → 757 customers · 2.1% monthly churn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92608"/>
            <a:ext cx="914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98781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766560" cy="3124200"/>
          </a:xfrm>
          <a:prstGeom prst="rect">
            <a:avLst/>
          </a:prstGeom>
        </p:spPr>
      </p:pic>
      <p:pic>
        <p:nvPicPr>
          <p:cNvPr id="8" name="Picture 7" descr="chart_mo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371600"/>
            <a:ext cx="4572000" cy="21062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5440680"/>
            <a:ext cx="11155680" cy="914400"/>
          </a:xfrm>
          <a:prstGeom prst="rect">
            <a:avLst/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559552"/>
            <a:ext cx="107899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1C5CAB"/>
                </a:solidFill>
                <a:latin typeface="Calibri"/>
              </a:rPr>
              <a:t>Net positive every month.  </a:t>
            </a:r>
            <a:r>
              <a:rPr sz="1150" b="0">
                <a:solidFill>
                  <a:srgbClr val="0B0B0B"/>
                </a:solidFill>
                <a:latin typeface="Calibri"/>
              </a:rPr>
              <a:t>New logos outpaced churn in all 36 months. Monthly churn has trended down from ~2.9% to ~2.1% as the base matured, so net adds have accelerated — the last 12 months added 318 customers net, more than the prior 24 combined.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98781"/>
                </a:solidFill>
                <a:latin typeface="Calibri"/>
              </a:rPr>
              <a:t>Bluebell SaaS · Investor Update · Sep 2026 ·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C5CAB"/>
                </a:solidFill>
                <a:latin typeface="Calibri"/>
              </a:rPr>
              <a:t>Unit economics: efficient, well above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LTV:CAC 7.7x · payback 6.4 months · CAC $1,173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92608"/>
            <a:ext cx="914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98781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ltv_c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315200" cy="3383228"/>
          </a:xfrm>
          <a:prstGeom prst="rect">
            <a:avLst/>
          </a:prstGeom>
        </p:spPr>
      </p:pic>
      <p:pic>
        <p:nvPicPr>
          <p:cNvPr id="8" name="Picture 7" descr="chart_c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77639"/>
            <a:ext cx="7315200" cy="33794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01000" y="1371600"/>
            <a:ext cx="3703320" cy="4572000"/>
          </a:xfrm>
          <a:prstGeom prst="rect">
            <a:avLst/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508760"/>
            <a:ext cx="3383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C5CAB"/>
                </a:solidFill>
                <a:latin typeface="Calibri"/>
              </a:rPr>
              <a:t>Unit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011680"/>
            <a:ext cx="2011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LTV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2011680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$8,981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377440"/>
            <a:ext cx="2011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CAC (TTM)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2377440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$1,173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743200"/>
            <a:ext cx="2011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LTV : CAC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2743200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7.7x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3108960"/>
            <a:ext cx="2011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CAC payback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3108960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6.4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3474720"/>
            <a:ext cx="2011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ARPA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3474720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$236.27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3840480"/>
            <a:ext cx="2011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Gross margin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3840480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78.0%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206240"/>
            <a:ext cx="2011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Monthly churn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4206240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2.1%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4572000"/>
            <a:ext cx="2011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Gross churn / new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4572000"/>
            <a:ext cx="1554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B0B0B"/>
                </a:solidFill>
                <a:latin typeface="Calibri"/>
              </a:rPr>
              <a:t>Healthy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5212080"/>
            <a:ext cx="33832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52514E"/>
                </a:solidFill>
                <a:latin typeface="Calibri"/>
              </a:rPr>
              <a:t>CAC has been stable around $1.1–1.2K for two years despite rising ad spend, a sign of efficient, scalable acquisition.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98781"/>
                </a:solidFill>
                <a:latin typeface="Calibri"/>
              </a:rPr>
              <a:t>Bluebell SaaS · Investor Update · Sep 2026 ·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C5CAB"/>
                </a:solidFill>
                <a:latin typeface="Calibri"/>
              </a:rPr>
              <a:t>Rule of 40: 125% — growth + margin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78% growth + 48% contribution margin (TTM)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92608"/>
            <a:ext cx="914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98781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rule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3210446"/>
          </a:xfrm>
          <a:prstGeom prst="rect">
            <a:avLst/>
          </a:prstGeom>
        </p:spPr>
      </p:pic>
      <p:pic>
        <p:nvPicPr>
          <p:cNvPr id="8" name="Picture 7" descr="chart_marg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371600"/>
            <a:ext cx="4480560" cy="206872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5440680"/>
            <a:ext cx="11155680" cy="914400"/>
          </a:xfrm>
          <a:prstGeom prst="rect">
            <a:avLst/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559552"/>
            <a:ext cx="107899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1C5CAB"/>
                </a:solidFill>
                <a:latin typeface="Calibri"/>
              </a:rPr>
              <a:t>Growth and margin are not trading off.  </a:t>
            </a:r>
            <a:r>
              <a:rPr sz="1150" b="0">
                <a:solidFill>
                  <a:srgbClr val="0B0B0B"/>
                </a:solidFill>
                <a:latin typeface="Calibri"/>
              </a:rPr>
              <a:t>Gross margin expanded ~5.7pp to 78% while revenue nearly 8x'd, and contribution margin held at 48% — the business funds its own growth spend. Every month in the period was contribution-positive.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98781"/>
                </a:solidFill>
                <a:latin typeface="Calibri"/>
              </a:rPr>
              <a:t>Bluebell SaaS · Investor Update · Sep 2026 ·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C5CAB"/>
                </a:solidFill>
                <a:latin typeface="Calibri"/>
              </a:rPr>
              <a:t>Data callout: last quarter's board deck (slide 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Three of four figures do not reproduce from source — flag before sending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92608"/>
            <a:ext cx="914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98781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11155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2194560" cy="384048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78308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Board deck (slide 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1783080"/>
            <a:ext cx="2194560" cy="384048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78308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This model (Jun-2026)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1783080"/>
            <a:ext cx="2194560" cy="384048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1783080"/>
            <a:ext cx="1463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1783080"/>
            <a:ext cx="1463040" cy="384048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1783080"/>
            <a:ext cx="2743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1783080"/>
            <a:ext cx="2743200" cy="384048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167128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0B0B"/>
                </a:solidFill>
                <a:latin typeface="Calibri"/>
              </a:rPr>
              <a:t>CAC (TTM)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2167128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$1,583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167128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$1,157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167128"/>
            <a:ext cx="1280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−$426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167128"/>
            <a:ext cx="25603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Does not tie to any trailing window in the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2240280"/>
            <a:ext cx="127000" cy="12700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2734056"/>
            <a:ext cx="109728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770632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0B0B"/>
                </a:solidFill>
                <a:latin typeface="Calibri"/>
              </a:rPr>
              <a:t>LTV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2770632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$8,019.93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2770632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$7,743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2770632"/>
            <a:ext cx="1280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−$277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2770632"/>
            <a:ext cx="25603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Falls between the two standard churn methods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2843784"/>
            <a:ext cx="127000" cy="12700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3337560"/>
            <a:ext cx="109728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374136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0B0B"/>
                </a:solidFill>
                <a:latin typeface="Calibri"/>
              </a:rPr>
              <a:t>CAC payback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374136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6.44 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3374136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6.35 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3374136"/>
            <a:ext cx="1280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−0.09 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3374136"/>
            <a:ext cx="25603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Minor; consistent with the churn-method difference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3447288"/>
            <a:ext cx="127000" cy="127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" y="3941064"/>
            <a:ext cx="109728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3977640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0B0B"/>
                </a:solidFill>
                <a:latin typeface="Calibri"/>
              </a:rPr>
              <a:t>ARPA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71800" y="3977640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$236.27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977640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$235.13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3977640"/>
            <a:ext cx="1280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+$1.14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3977640"/>
            <a:ext cx="25603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$236.27 is the Sep-2026 figure, not Jun-2026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4050792"/>
            <a:ext cx="127000" cy="12700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5800" y="4544568"/>
            <a:ext cx="109728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5029200"/>
            <a:ext cx="11155680" cy="1325880"/>
          </a:xfrm>
          <a:prstGeom prst="rect">
            <a:avLst/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138928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C5CAB"/>
                </a:solidFill>
                <a:latin typeface="Calibri"/>
              </a:rPr>
              <a:t>Recommendation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486400"/>
            <a:ext cx="107899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0B0B0B"/>
                </a:solidFill>
                <a:latin typeface="Calibri"/>
              </a:rPr>
              <a:t>Re-cut slide 7 against this model before the investor update goes out. </a:t>
            </a:r>
            <a:r>
              <a:rPr sz="1100" b="0">
                <a:solidFill>
                  <a:srgbClr val="0B0B0B"/>
                </a:solidFill>
                <a:latin typeface="Calibri"/>
              </a:rPr>
              <a:t>The ARPA figure ($236.27) matches Sep-2026, not the Jun-2026 the slide labels — the deck appears to mix period labels. The CAC of $1,583 does not reproduce under any standard trailing window on the source data. See the Reconciliation tab in the accompanying model for the full side-by-side.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98781"/>
                </a:solidFill>
                <a:latin typeface="Calibri"/>
              </a:rPr>
              <a:t>Bluebell SaaS · Investor Update · Sep 2026 ·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C5CAB"/>
                </a:solidFill>
                <a:latin typeface="Calibri"/>
              </a:rPr>
              <a:t>Outlook: next 6 months (directional)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Projections — not guidance · assumptions in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92608"/>
            <a:ext cx="914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98781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261518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91056"/>
            <a:ext cx="22860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Projected MRR (Mar-27)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83664"/>
            <a:ext cx="22860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B0B0B"/>
                </a:solidFill>
                <a:latin typeface="Calibri"/>
              </a:rPr>
              <a:t>~$225K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95728"/>
            <a:ext cx="2286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BAF7A"/>
                </a:solidFill>
                <a:latin typeface="Calibri"/>
              </a:rPr>
              <a:t>+25% vs Sep-26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0984" y="1463040"/>
            <a:ext cx="261518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5576" y="1591056"/>
            <a:ext cx="22860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Projected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5576" y="1883664"/>
            <a:ext cx="22860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B0B0B"/>
                </a:solidFill>
                <a:latin typeface="Calibri"/>
              </a:rPr>
              <a:t>~892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5576" y="2395728"/>
            <a:ext cx="2286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BAF7A"/>
                </a:solidFill>
                <a:latin typeface="Calibri"/>
              </a:rPr>
              <a:t>~+135 in 6 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9048" y="1463040"/>
            <a:ext cx="261518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591056"/>
            <a:ext cx="22860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Projected ARR (annualized)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83664"/>
            <a:ext cx="22860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B0B0B"/>
                </a:solidFill>
                <a:latin typeface="Calibri"/>
              </a:rPr>
              <a:t>~$2.7M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395728"/>
            <a:ext cx="2286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BAF7A"/>
                </a:solidFill>
                <a:latin typeface="Calibri"/>
              </a:rPr>
              <a:t>vs $2.15M today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97112" y="1463040"/>
            <a:ext cx="261518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1704" y="1591056"/>
            <a:ext cx="22860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CAC payback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1704" y="1883664"/>
            <a:ext cx="22860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B0B0B"/>
                </a:solidFill>
                <a:latin typeface="Calibri"/>
              </a:rPr>
              <a:t>~6.4 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1704" y="2395728"/>
            <a:ext cx="2286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BAF7A"/>
                </a:solidFill>
                <a:latin typeface="Calibri"/>
              </a:rPr>
              <a:t>Held flat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108960"/>
            <a:ext cx="11155680" cy="3200400"/>
          </a:xfrm>
          <a:prstGeom prst="rect">
            <a:avLst/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246120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C5CAB"/>
                </a:solidFill>
                <a:latin typeface="Calibri"/>
              </a:rPr>
              <a:t>Assumptions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657600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1C5CAB"/>
                </a:solidFill>
                <a:latin typeface="Calibri"/>
              </a:rPr>
              <a:t>•  </a:t>
            </a:r>
            <a:r>
              <a:rPr sz="1150" b="1">
                <a:solidFill>
                  <a:srgbClr val="0B0B0B"/>
                </a:solidFill>
                <a:latin typeface="Calibri"/>
              </a:rPr>
              <a:t>MRR: </a:t>
            </a:r>
            <a:r>
              <a:rPr sz="1150" b="0">
                <a:solidFill>
                  <a:srgbClr val="0B0B0B"/>
                </a:solidFill>
                <a:latin typeface="Calibri"/>
              </a:rPr>
              <a:t>3-month linear trend ($8.6K/month increment) extrapolated.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023360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1C5CAB"/>
                </a:solidFill>
                <a:latin typeface="Calibri"/>
              </a:rPr>
              <a:t>•  </a:t>
            </a:r>
            <a:r>
              <a:rPr sz="1150" b="1">
                <a:solidFill>
                  <a:srgbClr val="0B0B0B"/>
                </a:solidFill>
                <a:latin typeface="Calibri"/>
              </a:rPr>
              <a:t>Churn: </a:t>
            </a:r>
            <a:r>
              <a:rPr sz="1150" b="0">
                <a:solidFill>
                  <a:srgbClr val="0B0B0B"/>
                </a:solidFill>
                <a:latin typeface="Calibri"/>
              </a:rPr>
              <a:t>12-month trailing average (~2.3%) held constant on the growing base.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389120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1C5CAB"/>
                </a:solidFill>
                <a:latin typeface="Calibri"/>
              </a:rPr>
              <a:t>•  </a:t>
            </a:r>
            <a:r>
              <a:rPr sz="1150" b="1">
                <a:solidFill>
                  <a:srgbClr val="0B0B0B"/>
                </a:solidFill>
                <a:latin typeface="Calibri"/>
              </a:rPr>
              <a:t>New customers: </a:t>
            </a:r>
            <a:r>
              <a:rPr sz="1150" b="0">
                <a:solidFill>
                  <a:srgbClr val="0B0B0B"/>
                </a:solidFill>
                <a:latin typeface="Calibri"/>
              </a:rPr>
              <a:t>prior 3-month average (~38/month) held constant.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754880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1C5CAB"/>
                </a:solidFill>
                <a:latin typeface="Calibri"/>
              </a:rPr>
              <a:t>•  </a:t>
            </a:r>
            <a:r>
              <a:rPr sz="1150" b="1">
                <a:solidFill>
                  <a:srgbClr val="0B0B0B"/>
                </a:solidFill>
                <a:latin typeface="Calibri"/>
              </a:rPr>
              <a:t>S&amp;M: </a:t>
            </a:r>
            <a:r>
              <a:rPr sz="1150" b="0">
                <a:solidFill>
                  <a:srgbClr val="0B0B0B"/>
                </a:solidFill>
                <a:latin typeface="Calibri"/>
              </a:rPr>
              <a:t>scales with MRR at the 12-month trailing ratio.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120640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1C5CAB"/>
                </a:solidFill>
                <a:latin typeface="Calibri"/>
              </a:rPr>
              <a:t>•  </a:t>
            </a:r>
            <a:r>
              <a:rPr sz="1150" b="1">
                <a:solidFill>
                  <a:srgbClr val="0B0B0B"/>
                </a:solidFill>
                <a:latin typeface="Calibri"/>
              </a:rPr>
              <a:t>Gross margin: </a:t>
            </a:r>
            <a:r>
              <a:rPr sz="1150" b="0">
                <a:solidFill>
                  <a:srgbClr val="0B0B0B"/>
                </a:solidFill>
                <a:latin typeface="Calibri"/>
              </a:rPr>
              <a:t>held at the 12-month trailing average (~77%).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52514E"/>
                </a:solidFill>
                <a:latin typeface="Calibri"/>
              </a:rPr>
              <a:t>These are mechanical projections of recent trends, not committed guidance. Refresh inputs on the Projections tab of the model before circulating externally.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98781"/>
                </a:solidFill>
                <a:latin typeface="Calibri"/>
              </a:rPr>
              <a:t>Bluebell SaaS · Investor Update · Sep 2026 ·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254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9EC5F4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Scale the engine that's already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38328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3C2B7"/>
                </a:solidFill>
                <a:latin typeface="Calibri"/>
              </a:rPr>
              <a:t>125% Rule-of-40 · 7.7x LTV:CAC · 78% YoY growth — fund the growth, not a turnaround.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94360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8A99B5"/>
                </a:solidFill>
                <a:latin typeface="Calibri"/>
              </a:rPr>
              <a:t>Supporting model: Bluebell_Financial_Model.xlsx · Reconciliation tab documents the slide-7 discrepancies.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