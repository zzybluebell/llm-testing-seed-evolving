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822960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0B0B0B"/>
                </a:solidFill>
                <a:latin typeface="Calibri"/>
              </a:rPr>
              <a:t>Bluebell SaaS Pte Ltd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52514E"/>
                </a:solidFill>
                <a:latin typeface="Calibri"/>
              </a:rPr>
              <a:t>Investor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898781"/>
                </a:solidFill>
                <a:latin typeface="Calibri"/>
              </a:rPr>
              <a:t>September 2026  ·  Prepared for current and prospective investors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898781"/>
                </a:solidFill>
                <a:latin typeface="Calibri"/>
              </a:rPr>
              <a:t>Confidential — for discussion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MRR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Monthly recurring revenue, Oct 2023 –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pic>
        <p:nvPicPr>
          <p:cNvPr id="6" name="Picture 5" descr="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223760" cy="35123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5544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Current 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874519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0B0B"/>
                </a:solidFill>
                <a:latin typeface="Calibri"/>
              </a:rPr>
              <a:t>$178,857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CA30C"/>
                </a:solidFill>
                <a:latin typeface="Calibri"/>
              </a:rPr>
              <a:t>+60.4% year over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0632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36-month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3832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B0B0B"/>
                </a:solidFill>
                <a:latin typeface="Calibri"/>
              </a:rPr>
              <a:t>7.8×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97763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MRR 12 months 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$111,508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920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MRR at start (Oct 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212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$22,955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Gross margin &amp; cost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Trailing 12 months (Oct 2025 – 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03504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64592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LTM value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MRR (revenue)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$1,723,316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COGS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$393,885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22.9% of MRR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$1,329,432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77.1%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Sales &amp; marketing spend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$509,045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29.5% of MRR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0" y="155448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Margin highlights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Latest-month gross margin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78.0%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Avg gross margin (LTM)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77.1%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Range over 36 months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72.0% – 78.0%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Gross margin has expanded steadily as the business scales, with COGS remaining roughly one-quarter of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Customer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Active accounts and net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pic>
        <p:nvPicPr>
          <p:cNvPr id="6" name="Picture 5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223760" cy="34901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5544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Active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874519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0B0B"/>
                </a:solidFill>
                <a:latin typeface="Calibri"/>
              </a:rPr>
              <a:t>757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CA30C"/>
                </a:solidFill>
                <a:latin typeface="Calibri"/>
              </a:rPr>
              <a:t>up from 120 at period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0632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Net new customers (LTM)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3832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B0B0B"/>
                </a:solidFill>
                <a:latin typeface="Calibri"/>
              </a:rPr>
              <a:t>+271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97763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New customers (LTM)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434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920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Churned customers (LTM)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212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0B0B"/>
                </a:solidFill>
                <a:latin typeface="Calibri"/>
              </a:rPr>
              <a:t>163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Trailing 12 months (Oct 2025 – 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291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194560"/>
                <a:gridCol w="6126480"/>
              </a:tblGrid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How it is calculated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B0B0B"/>
                          </a:solidFill>
                          <a:latin typeface="Calibri"/>
                        </a:rPr>
                        <a:t>CAC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B0B0B"/>
                          </a:solidFill>
                          <a:latin typeface="Calibri"/>
                        </a:rPr>
                        <a:t>$1,172.91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LTM sales &amp; marketing ÷ LTM new customers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B0B0B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ARPA × gross margin ÷ monthly churn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B0B0B"/>
                          </a:solidFill>
                          <a:latin typeface="Calibri"/>
                        </a:rPr>
                        <a:t>LTV / CAC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B0B0B"/>
                          </a:solidFill>
                          <a:latin typeface="Calibri"/>
                        </a:rPr>
                        <a:t>6.84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Lifetime value ÷ acquisition cost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B0B0B"/>
                          </a:solidFill>
                          <a:latin typeface="Calibri"/>
                        </a:rPr>
                        <a:t>CAC payback (months)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B0B0B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CAC ÷ monthly gross profit per customer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54864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B0B0B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Latest MRR ÷ latest active customers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LTV / CAC of 6.84× and a ~6.4-month payback indicate strong unit economics; every dollar of acquisition spend is recovered in roughly half a year of gross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Five-year financial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DCF model (no terminal value)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8521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194560"/>
                <a:gridCol w="21945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FCF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Year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$1,723,316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-$5,000,000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$2,154,145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$323,122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$2,606,516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$456,140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$3,049,623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$609,925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$3,446,074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$775,367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Year 5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$3,790,682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$947,670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554480"/>
            <a:ext cx="4754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Valuation summary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NPV (12% discount rate)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-$2,883,241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IRR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-12.29%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Growth assumption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25% / 21% / 17% / 13% / 10%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FCF margin assumption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15% / 17.5% / 20% / 22.5% / 25%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At the assumed growth and margin path, the equity investment of $5.0M yields a negative NPV and IRR; see appendix for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Term 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Debt facility supporting the growth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67665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Principal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0B0B0B"/>
                          </a:solidFill>
                          <a:latin typeface="Calibri"/>
                        </a:rPr>
                        <a:t>$2,000,000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Annual interest rate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0B0B0B"/>
                          </a:solidFill>
                          <a:latin typeface="Calibri"/>
                        </a:rPr>
                        <a:t>7.00%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0B0B0B"/>
                          </a:solidFill>
                          <a:latin typeface="Calibri"/>
                        </a:rPr>
                        <a:t>60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Monthly payment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0B0B0B"/>
                          </a:solidFill>
                          <a:latin typeface="Calibri"/>
                        </a:rPr>
                        <a:t>$39,602.40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Total interest over term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0B0B0B"/>
                          </a:solidFill>
                          <a:latin typeface="Calibri"/>
                        </a:rPr>
                        <a:t>$376,143.82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554480"/>
            <a:ext cx="39319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60-month amortization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The $2.0M facility amortizes in full over 60 equal monthly payments.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Total interest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B0B0B"/>
                </a:solidFill>
                <a:latin typeface="Calibri"/>
              </a:rPr>
              <a:t>$376,143.82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898781"/>
                </a:solidFill>
                <a:latin typeface="Calibri"/>
              </a:rPr>
              <a:t>Full amortization table is in model.xlsx (sheet "loan").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Proposed allocation of the $7.0M capital raise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Sources of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C5CAB"/>
                </a:solidFill>
                <a:latin typeface="Calibri"/>
              </a:rPr>
              <a:t>$5.0M equity investment  +  $2.0M term loan  =  $7.0M total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60320"/>
          <a:ext cx="786383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59"/>
                <a:gridCol w="1463039"/>
                <a:gridCol w="237743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Sales &amp; marketing expansion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$2.80M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Product &amp; engineering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$2.10M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Working capital &amp; G&amp;A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$1.40M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Debt service reserve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B0B0B"/>
                          </a:solidFill>
                          <a:latin typeface="Calibri"/>
                        </a:rPr>
                        <a:t>$0.70M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898781"/>
                </a:solidFill>
                <a:latin typeface="Calibri"/>
              </a:rPr>
              <a:t>Allocation is management’s proposal; see appendix for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Appendix —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Every assumption used in this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Starting active customers = 120 (provided). Active customers per month = prior active + new − churned.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“Trailing 12 months / LTM” = the final 12 of the 36 monthly rows (Oct 2025 – Sep 2026).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Gross margin = (MRR − COGS) ÷ MRR.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Monthly churn = churned customers ÷ prior-month active customers.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CAC (LTM) = LTM sales &amp; marketing spend ÷ LTM new customers.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ARPA = latest-month MRR ÷ latest-month active customers.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LTV = ARPA × LTM avg gross margin ÷ LTM avg monthly churn.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CAC payback = CAC ÷ (ARPA × LTM avg gross margin).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DCF: revenue year 0 = LTM MRR; growth 25%, 21%, 17%, 13%, 10% (years 1–5); FCF margin 15%, 17.5%, 20%, 22.5%, 25%; discount rate 12%; initial investment −$5,000,000 at year 0; no terminal value.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Loan: principal $2,000,000; 7.00% annual; 60 equal monthly payments (full amortization).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Use-of-funds allocation (40/30/20/10) is management’s proposal, not derived from the dataset.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MRR year-over-year growth of +60.4% compares Sep 2026 to Sep 2025.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0B0B"/>
                </a:solidFill>
                <a:latin typeface="Calibri"/>
              </a:rPr>
              <a:t>Appendix — Board deck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41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Q2 board deck, slide 7 (“Unit Economics”) vs. recomputation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Bluebell SaaS Pte Ltd  ·  Investor Update  ·  September 2026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03B3B"/>
                </a:solidFill>
                <a:latin typeface="Calibri"/>
              </a:rPr>
              <a:t>The prior board deck reported CAC of $1,583.00, which does not reconcile with the stated formula. The corrected value is $1,172.91. All other metrics on slide 7 match.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57400"/>
          <a:ext cx="1106423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0714"/>
                <a:gridCol w="2357952"/>
                <a:gridCol w="2357952"/>
                <a:gridCol w="362761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Board deck (slide 7)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Computed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CAC (trailing 12m)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$1,583.00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$1,172.91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03B3B"/>
                          </a:solidFill>
                          <a:latin typeface="Calibri"/>
                        </a:rPr>
                        <a:t>CONFLICT — corrected to $1,172.91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CA30C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CAC payback (months)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CA30C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52514E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CA30C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73152" marR="73152" marT="27432" marB="27432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