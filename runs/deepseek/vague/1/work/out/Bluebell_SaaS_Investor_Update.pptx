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</a:rPr>
              <a:t>INVESTOR UPDATE ·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0B0B0B"/>
                </a:solidFill>
              </a:rPr>
              <a:t>Bluebell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2514E"/>
                </a:solidFill>
              </a:rPr>
              <a:t>Trailing 36 months: October 2023 –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98781"/>
                </a:solidFill>
              </a:rPr>
              <a:t>Revenue · customers · unit economics · margins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98781"/>
                </a:solidFill>
              </a:rPr>
              <a:t>Confidential · Prepared for investor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606040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28216"/>
            <a:ext cx="2276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$178.9k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48839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Ending MRR · ARR $2.15M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00200"/>
            <a:ext cx="2606040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728216"/>
            <a:ext cx="2276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757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48839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Active customers (from 120)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2606040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728216"/>
            <a:ext cx="2276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+69.7%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48839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YoY MRR growth · 98% CAGR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2606040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80944"/>
            <a:ext cx="2276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$1.72M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401568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Trailing-12m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852928"/>
            <a:ext cx="2606040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980944"/>
            <a:ext cx="2276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77.1%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401568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Gross margin (TTM)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52928"/>
            <a:ext cx="2606040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980944"/>
            <a:ext cx="2276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$236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01568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ARPA · 6.4-mo CAC payback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11091672" cy="1554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</a:rPr>
              <a:t>Over 36 months, Bluebell grew MRR 7.8× (from $23.0k to $178.9k) while expanding its customer base from 120 to 757 accounts on improving unit economics: ARPA up from $176 to $236, gross margin up ~6 pts to 77%, and blended CAC payback holding at ~6.4 months. Headcount scaled from 9 to 34.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Monthly recurring revenue</a:t>
            </a:r>
          </a:p>
        </p:txBody>
      </p:sp>
      <p:pic>
        <p:nvPicPr>
          <p:cNvPr id="5" name="Picture 4" descr="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283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82880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195681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$2.15M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2377439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ARR (run-rate, Sep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06324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319125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$1.72M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61188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TTM revenue (last 12m)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9768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442569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7.8×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84632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MRR multiple over 36m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Customer growth</a:t>
            </a:r>
          </a:p>
        </p:txBody>
      </p:sp>
      <p:pic>
        <p:nvPicPr>
          <p:cNvPr id="5" name="Picture 4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283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82880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195681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757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2377439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Active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06324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319125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+637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61188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Net adds over 36m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9768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442569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2.3%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84632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Avg monthly logo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New vs churned customers</a:t>
            </a:r>
          </a:p>
        </p:txBody>
      </p:sp>
      <p:pic>
        <p:nvPicPr>
          <p:cNvPr id="5" name="Picture 4" descr="new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283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82880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195681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981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2377439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New customers (36m)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06324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319125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61188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Churned (36m)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9768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442569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+78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84632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Net adds (Q3-2026)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Unit economics (TTM, Sep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651760" cy="123444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19656"/>
            <a:ext cx="23225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</a:rPr>
              <a:t>$236.27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ARPA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691640"/>
            <a:ext cx="2651760" cy="123444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1819656"/>
            <a:ext cx="23225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</a:rPr>
              <a:t>$1,173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42316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Blended CAC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691640"/>
            <a:ext cx="2651760" cy="123444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819656"/>
            <a:ext cx="23225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</a:rPr>
              <a:t>$8,029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42316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LTV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7696" y="1691640"/>
            <a:ext cx="2651760" cy="123444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1819656"/>
            <a:ext cx="23225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</a:rPr>
              <a:t>6.4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2423160"/>
            <a:ext cx="232257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CAC 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</a:rPr>
              <a:t>LTV = ARPA × gross margin ÷ avg monthly logo churn (2.27%). CAC = S&amp;M (TTM) ÷ new logos (TTM).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1091672" cy="1920240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6834"/>
                </a:solidFill>
              </a:rPr>
              <a:t>Note — prior board deck (slide 7) differs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607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</a:rPr>
              <a:t>Slide 7 (labelled 'end of Q2') reported CAC $1,583 and LTV $8,019.93. Our recomputation gives CAC $1,157 (Q2-end) / $1,173 (latest) and LTV $7,608 (Q2-end) / $8,029 (latest). See the reconciliation slide for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Gross margin &amp; S&amp;M efficiency</a:t>
            </a:r>
          </a:p>
        </p:txBody>
      </p:sp>
      <p:pic>
        <p:nvPicPr>
          <p:cNvPr id="5" name="Picture 4" descr="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283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82880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195681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77.1%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2377439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Gross margin (TTM)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06324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319125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27.2%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61188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S&amp;M as % of MRR (latest)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9768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442569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$90.8k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84632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Contribution after COGS &amp; S&amp;M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Headcount</a:t>
            </a:r>
          </a:p>
        </p:txBody>
      </p:sp>
      <p:pic>
        <p:nvPicPr>
          <p:cNvPr id="5" name="Picture 4" descr="head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2799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82880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195681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8431" y="2377439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Headcount (Sep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06324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319125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9 →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61188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Headcount over 36m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297680"/>
            <a:ext cx="3749039" cy="1051560"/>
          </a:xfrm>
          <a:prstGeom prst="rect">
            <a:avLst/>
          </a:prstGeom>
          <a:solidFill>
            <a:srgbClr val="F4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4425696"/>
            <a:ext cx="3419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</a:rPr>
              <a:t>$5.3k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4846320"/>
            <a:ext cx="3419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</a:rPr>
              <a:t>MRR per employee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78D6"/>
                </a:solidFill>
              </a:rPr>
              <a:t>DATA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</a:rPr>
              <a:t>Reconciliation — prior deck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</a:rPr>
              <a:t>Slide 7 ('Q2 Board Update — Unit Economics') was labelled 'end of Q2'. We recomputed the same metrics from data/financials.xlsx.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916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2560320"/>
                <a:gridCol w="2560320"/>
                <a:gridCol w="1764792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T="76200" marB="762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Slide 7</a:t>
                      </a:r>
                    </a:p>
                  </a:txBody>
                  <a:tcPr marT="76200" marB="762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Computed @ Q2-end</a:t>
                      </a:r>
                    </a:p>
                    <a:p>
                      <a:r>
                        <a:t>(Jun 2026)</a:t>
                      </a:r>
                    </a:p>
                  </a:txBody>
                  <a:tcPr marT="76200" marB="762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Computed @ latest</a:t>
                      </a:r>
                    </a:p>
                    <a:p>
                      <a:r>
                        <a:t>(Sep 2026)</a:t>
                      </a:r>
                    </a:p>
                  </a:txBody>
                  <a:tcPr marT="76200" marB="762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 marT="76200" marB="76200">
                    <a:solidFill>
                      <a:srgbClr val="2A78D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ARPA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$236.27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$235.13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$236.27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Slide value = Sep, not Jun</a:t>
                      </a:r>
                    </a:p>
                  </a:txBody>
                  <a:tcPr marT="76200" marB="76200"/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CAC (TTM)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$1,583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$1,157.02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$1,172.91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Slide CAC not reproducible</a:t>
                      </a:r>
                    </a:p>
                  </a:txBody>
                  <a:tcPr marT="76200" marB="76200"/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LTV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$8,019.93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$7,608.25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$8,028.95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Slide ≈ Sep, ≠ Jun</a:t>
                      </a:r>
                    </a:p>
                  </a:txBody>
                  <a:tcPr marT="76200" marB="76200"/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CAC payback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6.44 mo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6.42 mo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</a:rPr>
                        <a:t>6.44 mo</a:t>
                      </a:r>
                    </a:p>
                  </a:txBody>
                  <a:tcPr marT="76200" marB="762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</a:rPr>
                        <a:t>Slide value = Sep, not Jun</a:t>
                      </a:r>
                    </a:p>
                  </a:txBody>
                  <a:tcPr marT="76200" marB="76200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486400"/>
            <a:ext cx="11091672" cy="822960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9612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</a:rPr>
              <a:t>Key finding: the slide's ARPA and CAC payback match September 2026 (latest data), not the 'end of Q2' label; and the CAC of $1,583 cannot be reproduced from the provided financials under any standard blended-CAC definition.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