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9D8F0"/>
                </a:solidFill>
                <a:latin typeface="Calibri"/>
              </a:rPr>
              <a:t>Bluebell SaaS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Investor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57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C9D8F0"/>
                </a:solidFill>
                <a:latin typeface="Calibri"/>
              </a:rPr>
              <a:t>36 months to 2026-09  ·  prepared 2026-09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200400"/>
            <a:ext cx="2613583" cy="1261872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$2,146,285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3950208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ARR (last month MRR x 12), 2026-09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1679" y="3200400"/>
            <a:ext cx="2613583" cy="1261872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46271" y="3383280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$178,857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9695" y="3950208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MRR, 2026-09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3200400"/>
            <a:ext cx="2613583" cy="1261872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61023" y="3383280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757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3950208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Active customers (from 120)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1183" y="3200400"/>
            <a:ext cx="2613583" cy="1261872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75775" y="3383280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78.00%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9199" y="3950208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Gross margin, last month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4942331"/>
            <a:ext cx="91440" cy="914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873752"/>
            <a:ext cx="1083838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MRR up 69.68% over the last 12 months; 6.31x active customers since the period opened at 120.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5326379"/>
            <a:ext cx="91440" cy="914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257800"/>
            <a:ext cx="1083838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LTV/CAC 6.84x with 6.44-month CAC payback — efficient growth, not bought growth.</a:t>
            </a:r>
          </a:p>
        </p:txBody>
      </p:sp>
      <p:sp>
        <p:nvSpPr>
          <p:cNvPr id="22" name="Oval 21"/>
          <p:cNvSpPr/>
          <p:nvPr/>
        </p:nvSpPr>
        <p:spPr>
          <a:xfrm>
            <a:off x="566928" y="5710427"/>
            <a:ext cx="91440" cy="914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641848"/>
            <a:ext cx="1083838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All figures tie to out/model.xlsx, where every metric is a live formula over the raw monthly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382512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Source: out/model.xlsx (live formulas) · data/financials.xlsx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F3864"/>
                </a:solidFill>
                <a:latin typeface="Calibri"/>
              </a:rPr>
              <a:t>Where the business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Trailing 12 months, 2025-10 to 2026-09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11057839" cy="1143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64208"/>
            <a:ext cx="2613583" cy="1207008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$1,723,316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414016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Revenue, last 12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1679" y="1664208"/>
            <a:ext cx="2613583" cy="1207008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46271" y="1847088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77.14%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9695" y="2414016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Blended gross margin, last 12m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1664208"/>
            <a:ext cx="2613583" cy="1207008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61023" y="1847088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6.84x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414016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LTV / CAC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1183" y="1664208"/>
            <a:ext cx="2613583" cy="1207008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75775" y="1847088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2.27%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9199" y="2414016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Average monthly logo churn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66928" y="3127248"/>
          <a:ext cx="1107338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108960"/>
                <a:gridCol w="4032504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Last 12 months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Comment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$1,723,316.18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Sum of monthly MRR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Gross profit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$1,329,431.63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77.14% blended margin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Sales &amp; marketing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$509,044.99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29.54% of revenue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Gross profit after S&amp;M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$820,386.64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47.61% of revenue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New customers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434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163 churned, 271 net adds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Headcount (period end)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$5,260.50 MRR per employee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66928" y="6382512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Source: out/model.xlsx (live formulas) · data/financials.xlsx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F3864"/>
                </a:solidFill>
                <a:latin typeface="Calibri"/>
              </a:rPr>
              <a:t>MRR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Monthly recurring revenue, 2023-10 to 2026-09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11057839" cy="1143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MRR grew from $22,955.41 to $178,857.07 — 69.68% in the last 12 months alone, with no down month in 36.</a:t>
            </a:r>
          </a:p>
        </p:txBody>
      </p:sp>
      <p:pic>
        <p:nvPicPr>
          <p:cNvPr id="6" name="Picture 5" descr="m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765" y="1901952"/>
            <a:ext cx="9548164" cy="41513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382512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Source: out/model.xlsx (live formulas) · data/financials.xlsx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F3864"/>
                </a:solidFill>
                <a:latin typeface="Calibri"/>
              </a:rPr>
              <a:t>Gross margin &amp; cost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Last 12 months, 2025-10 to 2026-09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11057839" cy="1143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2613583" cy="1170432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78.00%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395728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Gross margin, last 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1679" y="1645920"/>
            <a:ext cx="2613583" cy="1170432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46271" y="1828800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77.14%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9695" y="2395728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Blended gross margin, 12m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1645920"/>
            <a:ext cx="2613583" cy="1170432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61023" y="1828800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29.54%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395728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S&amp;M as % of revenue, 12m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1183" y="1645920"/>
            <a:ext cx="2613583" cy="1170432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75775" y="1828800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$5,260.50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9199" y="2395728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MRR per employee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66928" y="3072384"/>
          <a:ext cx="72237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40280"/>
                <a:gridCol w="17830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Line item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Last 12 months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% of revenue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$1,723,316.18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100.00%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Cost of goods sold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$393,884.55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22.86%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Gross profit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$1,329,431.63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77.14%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Sales &amp; marketing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$509,044.99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29.54%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Gross profit after S&amp;M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$820,386.64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47.61%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973568" y="3072384"/>
            <a:ext cx="3685032" cy="265176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93024" y="327355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Calibri"/>
              </a:rPr>
              <a:t>What drives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3621024"/>
            <a:ext cx="3246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Gross margin has widened from 72.00% in 2023-10 to 78.00% — COGS is now 22.00% of MRR.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S&amp;M is the dominant discretionary cost at 29.54% of revenue and is what the round scales.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Headcount 34, carrying $5,260.50 of MRR per employee.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Source: out/model.xlsx (live formulas) · data/financials.xlsx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F3864"/>
                </a:solidFill>
                <a:latin typeface="Calibri"/>
              </a:rPr>
              <a:t>Customer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New vs churned customers per month, 2023-10 to 2026-09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11057839" cy="1143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434 customers added and 163 lost in the last 12 months — 271 net adds, taking the base to 757.</a:t>
            </a:r>
          </a:p>
        </p:txBody>
      </p:sp>
      <p:pic>
        <p:nvPicPr>
          <p:cNvPr id="6" name="Picture 5" descr="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765" y="1901952"/>
            <a:ext cx="9548164" cy="41513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382512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Source: out/model.xlsx (live formulas) · data/financials.xlsx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F3864"/>
                </a:solidFill>
                <a:latin typeface="Calibri"/>
              </a:rPr>
              <a:t>Retention &amp; churn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Logo churn against the prior month's active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11057839" cy="1143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64208"/>
            <a:ext cx="2613583" cy="1207008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2.27%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414016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Avg monthly churn, last 12m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1679" y="1664208"/>
            <a:ext cx="2613583" cy="1207008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46271" y="1847088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2.05%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9695" y="2414016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Monthly churn, 2026-09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1664208"/>
            <a:ext cx="2613583" cy="1207008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61023" y="1847088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75.91%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414016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Implied annual logo retention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1183" y="1664208"/>
            <a:ext cx="2613583" cy="1207008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75775" y="1847088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757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9199" y="2414016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Active customers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66928" y="3127248"/>
          <a:ext cx="1107338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554480"/>
                <a:gridCol w="6318504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Monthly churn, first month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3.33%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2023-10, on the opening base of 120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Monthly churn, last month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2.05%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2026-09, on the prior month's active base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Average monthly churn, 12m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2.27%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Simple average of the last 12 monthly rates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Implied annual retention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75.91%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(1 - average monthly churn) ^ 12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Net customer adds, 12m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271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434 new less 163 churned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66928" y="570585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Churn is falling as the base grows: the absolute number of churned logos is up, but the monthly rate is down from 3.33% to 2.05% since the period opened.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Source: out/model.xlsx (live formulas) · data/financials.xlsx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F3864"/>
                </a:solidFill>
                <a:latin typeface="Calibri"/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Trailing 12 months to 2026-09; ARPA measured on the last 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11057839" cy="1143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00784"/>
          <a:ext cx="11073384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103120"/>
                <a:gridCol w="5952744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How it is calculated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CAC (trailing 12 months)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$1,172.91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$509,044.99 S&amp;M / 434 new customers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LTV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$8,019.93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ARPA x 77.06% avg gross margin / 2.27% avg churn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LTV / CAC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6.84x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$8,019.93 / $1,172.91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CAC payback (months)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6.44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CAC / $182.06 gross profit per account per month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ARPA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$236.27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$178,857.07 MRR / 757 active customers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956048"/>
            <a:ext cx="11057839" cy="1024128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4672" y="5138928"/>
            <a:ext cx="10582351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Payback in 6.44 months against a 6.84x LTV/CAC: each dollar of S&amp;M is recovered inside two quarters and returns roughly 6.8x over the life of the account.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LTV is undiscounted and assumes churn stays at 2.27% a month; treat it as the ceiling, and the 6.44-month payback as the number to underwrite.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Source: out/model.xlsx (live formulas) · data/financials.xlsx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F3864"/>
                </a:solidFill>
                <a:latin typeface="Calibri"/>
              </a:rPr>
              <a:t>Use of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Allocation of the $5,000,000 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11057839" cy="1143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37360"/>
          <a:ext cx="6949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691640"/>
                <a:gridCol w="16916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% of round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Sales &amp; marketing — scale the engine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45.0%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$2,250,000.00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Product &amp; engineering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30.0%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$1,500,000.00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G&amp;A, finance and compliance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12.0%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$600,000.00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Working capital buffer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13.0%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$650,000.00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$5,000,000.00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99248" y="1737360"/>
            <a:ext cx="3959352" cy="265176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936992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Calibri"/>
              </a:rPr>
              <a:t>Why this 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2286000"/>
            <a:ext cx="35204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S&amp;M is the largest line because payback is 6.44 months — the constraint is capital, not demand.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At today's CAC of $1,172.91, $2,250,000 of S&amp;M funds roughly 1,918 new customers.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Product spend defends the gross margin; the buffer covers 12 months of working capital swings.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51713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Financing alongside the round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4864608"/>
          <a:ext cx="694944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169164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Debt facility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Principal at 7.00% annual, 60 months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$2,000,000.00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Equal monthly payment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$39,602.40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Total interest over the term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$376,143.82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6382512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Source: out/model.xlsx (live formulas) · data/financials.xlsx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F3864"/>
                </a:solidFill>
                <a:latin typeface="Calibri"/>
              </a:rPr>
              <a:t>Five-year plan &amp;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Revenue year 0 = last 12 months of MRR; no terminal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11057839" cy="1143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00784"/>
          <a:ext cx="1107338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463040"/>
                <a:gridCol w="2286000"/>
                <a:gridCol w="1737360"/>
                <a:gridCol w="2377440"/>
                <a:gridCol w="2020824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FCF margin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Free cash flow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Net cash flow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Year 0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$1,723,316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-$5,000,000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Year 1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25.0%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$2,154,145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15.0%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$323,122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$323,122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21.0%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$2,606,516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17.5%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$456,140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$456,140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Year 3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17.0%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$3,049,623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20.0%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$609,925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$609,925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Year 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13.0%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$3,446,074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22.5%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$775,367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$775,367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Year 5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$3,790,682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25.0%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$947,670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$947,670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443984"/>
            <a:ext cx="2613583" cy="1152144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4626864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-$2,883,241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5193792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NPV @ 12%, no terminal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1679" y="4443984"/>
            <a:ext cx="2613583" cy="1152144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46271" y="4626864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-12.29%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9695" y="5193792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IRR on the year 0-5 cash 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4443984"/>
            <a:ext cx="2613583" cy="1152144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61023" y="4626864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$3,112,224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5193792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Undiscounted FCF, years 1-5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1183" y="4443984"/>
            <a:ext cx="2613583" cy="1152144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75775" y="4626864"/>
            <a:ext cx="22843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F3864"/>
                </a:solidFill>
                <a:latin typeface="Calibri"/>
              </a:rPr>
              <a:t>$39,602.40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9199" y="5193792"/>
            <a:ext cx="2357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2514E"/>
                </a:solidFill>
                <a:latin typeface="Calibri"/>
              </a:rPr>
              <a:t>Monthly loan 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742432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Read this as a floor, not a valuation: with no terminal value the $5,000,000 investment is measured against five years of cash flow only, which is why NPV is -$2,883,241 and IRR -12.29%. The business is worth what happens after year 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Source: out/model.xlsx (live formulas) · data/financials.xlsx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F3864"/>
                </a:solidFill>
                <a:latin typeface="Calibri"/>
              </a:rPr>
              <a:t>Appendix —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Every assumption behind the numbers in this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11057839" cy="1143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91056"/>
            <a:ext cx="53826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0B0B0B"/>
                </a:solidFill>
                <a:latin typeface="Calibri"/>
              </a:rPr>
              <a:t>1.  Opening base: 120 active customers immediately before 2023-10; active customers = prior month + new - churned, compounded monthly.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9424"/>
            <a:ext cx="53826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0B0B0B"/>
                </a:solidFill>
                <a:latin typeface="Calibri"/>
              </a:rPr>
              <a:t>2.  Period: 36 monthly rows, 2023-10 to 2026-09. “Last 12 months” means 2025-10 to 2026-09 (rows 26:37 of the raw sheet).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07791"/>
            <a:ext cx="53826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0B0B0B"/>
                </a:solidFill>
                <a:latin typeface="Calibri"/>
              </a:rPr>
              <a:t>3.  Gross margin = (MRR - COGS) / MRR, using COGS as reported; no headcount or overhead is allocated into COGS.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566160"/>
            <a:ext cx="53826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0B0B0B"/>
                </a:solidFill>
                <a:latin typeface="Calibri"/>
              </a:rPr>
              <a:t>4.  Monthly churn = churned customers / the prior month's active base (logo churn, not revenue churn). The first month is measured against the 120 opening 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24528"/>
            <a:ext cx="53826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0B0B0B"/>
                </a:solidFill>
                <a:latin typeface="Calibri"/>
              </a:rPr>
              <a:t>5.  CAC = trailing-12-month S&amp;M spend / trailing-12-month new customers ($509,044.99 / 434). All S&amp;M is treated as acquisition cost, with no lag between spend and signup.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82896"/>
            <a:ext cx="53826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0B0B0B"/>
                </a:solidFill>
                <a:latin typeface="Calibri"/>
              </a:rPr>
              <a:t>6.  ARPA = last month's MRR / last month's active customers (2026-09), so it is a point-in-time figure, not a 12-month average.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541264"/>
            <a:ext cx="53826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0B0B0B"/>
                </a:solidFill>
                <a:latin typeface="Calibri"/>
              </a:rPr>
              <a:t>7.  LTV = ARPA x average gross margin (12m) / average monthly churn (12m). No discounting, no expansion revenue and no cap on customer life - it is an upper bound.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2151" y="1591056"/>
            <a:ext cx="53826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0B0B0B"/>
                </a:solidFill>
                <a:latin typeface="Calibri"/>
              </a:rPr>
              <a:t>8.  12-month averages are simple monthly averages, not revenue-weighted. This is why average monthly gross margin (77.06%) differs slightly from blended 12-month margin (77.14%).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2151" y="2249424"/>
            <a:ext cx="53826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0B0B0B"/>
                </a:solidFill>
                <a:latin typeface="Calibri"/>
              </a:rPr>
              <a:t>9.  CAC payback = CAC / (ARPA x average gross margin 12m): gross-margin-adjusted, undiscounted.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2151" y="2907791"/>
            <a:ext cx="53826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0B0B0B"/>
                </a:solidFill>
                <a:latin typeface="Calibri"/>
              </a:rPr>
              <a:t>10.  DCF: revenue year 0 = sum of the last 12 months of MRR ($1,723,316.18); growth 25/21/17/13/10%; FCF margin 15.0/17.5/20.0/22.5/25.0%; discount rate 12%; investment -$5,000,000.00 at year 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2151" y="3566160"/>
            <a:ext cx="53826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0B0B0B"/>
                </a:solidFill>
                <a:latin typeface="Calibri"/>
              </a:rPr>
              <a:t>11.  The DCF carries NO terminal value and assumes year-end cash flows. NPV = NPV(12%, years 1-5) + the year-0 investment; IRR is taken on the year 0-5 net cash flow 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51" y="4224528"/>
            <a:ext cx="53826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0B0B0B"/>
                </a:solidFill>
                <a:latin typeface="Calibri"/>
              </a:rPr>
              <a:t>12.  Loan: $2,000,000 at 7.00% nominal annual, compounded monthly (0.5833%), 60 equal payments in arrears, no fees, no prepayment.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2151" y="4882896"/>
            <a:ext cx="53826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0B0B0B"/>
                </a:solidFill>
                <a:latin typeface="Calibri"/>
              </a:rPr>
              <a:t>13.  Use of funds (45/30/12/13) is a planning allocation of the $5,000,000 year-0 investment, not committed spend.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2151" y="5541264"/>
            <a:ext cx="53826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0B0B0B"/>
                </a:solidFill>
                <a:latin typeface="Calibri"/>
              </a:rPr>
              <a:t>14.  All amounts are USD. The model holds unrounded values; slides round to two decimals, so columns may not re-add exactly on screen.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Source: out/model.xlsx (live formulas) · data/financials.xlsx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F3864"/>
                </a:solidFill>
                <a:latin typeface="Calibri"/>
              </a:rPr>
              <a:t>Appendix — reconciliation with last quarter's board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data/last_board_deck_slide7.png, “Q2 Board Update — Unit Economics”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11057839" cy="1143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00784"/>
          <a:ext cx="11073384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468880"/>
                <a:gridCol w="2468880"/>
                <a:gridCol w="2935224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Board deck, slide 7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This update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100584" marR="100584" marT="27432" marB="27432" anchor="ctr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CAC (trailing 12 months)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$1,583.00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$1,172.91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CONFLICT — corrected here</a:t>
                      </a:r>
                    </a:p>
                  </a:txBody>
                  <a:tcPr marL="100584" marR="100584" marT="27432" marB="27432" anchor="ctr">
                    <a:solidFill>
                      <a:srgbClr val="ED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LTV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$8,019.93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$8,019.93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Matches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CAC payback (months)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6.44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6.44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Matches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ARPA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$236.27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$236.27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Matches</a:t>
                      </a:r>
                    </a:p>
                  </a:txBody>
                  <a:tcPr marL="100584" marR="100584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877056"/>
            <a:ext cx="11057839" cy="1847088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4078224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B6834"/>
                </a:solidFill>
                <a:latin typeface="Calibri"/>
              </a:rPr>
              <a:t>The conflict: CAC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25696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Last quarter's slide 7 shows CAC of $1,583. Recomputed from the same definition — trailing-12-month S&amp;M of $509,044.99 over 434 new customers — CAC is $1,172.91.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The old figure is also inconsistent with its own slide: 6.44 months of payback x $182.06 of monthly gross profit per account implies a CAC of about $1,172, not $1,583.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Consequence: LTV/CAC is 6.84x, not 5.07x. LTV, CAC payback and ARPA on the old slide all reconcile exactly and are unchanged.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Source: out/model.xlsx (live formulas) · data/financials.xlsx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