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Verdana"/>
              </a:rPr>
              <a:t>Investor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007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C3D2EA"/>
                </a:solidFill>
                <a:latin typeface="Verdana"/>
              </a:rPr>
              <a:t>Bluebell SaaS Pte Ltd  ·  36 months to Sep-2026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127248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127248"/>
            <a:ext cx="41148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218688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ARR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56432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$2.15M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950208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+70% year on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9564" y="3127248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9564" y="3127248"/>
            <a:ext cx="41148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0732" y="3218688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2444" y="3456432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757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0732" y="3950208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from 120 at period 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27248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27248"/>
            <a:ext cx="41148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218688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GROSS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456432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78%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950208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up from 72% in Oct-2023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4836" y="3127248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4836" y="3127248"/>
            <a:ext cx="41148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3218688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CAC PAYBACK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7715" y="3456432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6.4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3950208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LTV:CAC of 6.9x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00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Verdana"/>
              </a:rPr>
              <a:t>Prepared from the 36-month financial extract. One figure on slide 7 of last quarter's board deck does not reconcile to this data — the correction is on slide 9.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Source: data/financials.xlsx  ·  supporting model: bluebell_saas_model.xlsx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35508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F2A44"/>
                </a:solidFill>
                <a:latin typeface="Verdana"/>
              </a:rPr>
              <a:t>The numbers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784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All figures as at Sep-2026; trailing-twelve-month basis where marked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64240" cy="182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41148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19072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ARR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56816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$2.15M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50592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MRR $179k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9564" y="1627632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9564" y="1627632"/>
            <a:ext cx="41148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0732" y="1719072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YOY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2444" y="1956816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+70%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0732" y="2450592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7.8x over 36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27632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27632"/>
            <a:ext cx="41148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719072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NET REVENUE / CUSTOMER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56816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$236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450592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+34% since Oct-2023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4836" y="1627632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4836" y="1627632"/>
            <a:ext cx="41148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719072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LOGO CHURN (TTM)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7715" y="1956816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2.26%/mo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2450592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~27% annualised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926080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2926080"/>
            <a:ext cx="41148" cy="117043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017520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CAC (TTM)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255264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$1,173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3749040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S&amp;M / new logos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9564" y="2926080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69564" y="2926080"/>
            <a:ext cx="41148" cy="117043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70732" y="3017520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LTV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2444" y="3255264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$8,081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0732" y="3749040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44-month implied life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2926080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2926080"/>
            <a:ext cx="41148" cy="117043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3017520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LTV : CAC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255264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6.9x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3749040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target 3.0x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4836" y="2926080"/>
            <a:ext cx="2656332" cy="11704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74836" y="2926080"/>
            <a:ext cx="41148" cy="117043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76004" y="3017520"/>
            <a:ext cx="2327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1" i="0">
                <a:solidFill>
                  <a:srgbClr val="52514E"/>
                </a:solidFill>
                <a:latin typeface="Verdana"/>
              </a:rPr>
              <a:t>MAGIC NUMBER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7715" y="3255264"/>
            <a:ext cx="23637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F2A44"/>
                </a:solidFill>
                <a:latin typeface="Verdana"/>
              </a:rPr>
              <a:t>1.72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6004" y="3749040"/>
            <a:ext cx="23271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2514E"/>
                </a:solidFill>
                <a:latin typeface="Verdana"/>
              </a:rPr>
              <a:t>target 0.75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4370832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 i="0">
                <a:solidFill>
                  <a:srgbClr val="0B0B0B"/>
                </a:solidFill>
                <a:latin typeface="Verdana"/>
              </a:rPr>
              <a:t>Growth is holding at scale.  ARR compounded from $0.28M to $2.15M with no quarter below +12% QoQ; the last twelve months added $0.88M of net new ARR.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 i="0">
                <a:solidFill>
                  <a:srgbClr val="0B0B0B"/>
                </a:solidFill>
                <a:latin typeface="Verdana"/>
              </a:rPr>
              <a:t>Efficiency is improving, not decaying.  Gross margin widened 72% → 78%, logo churn fell 3.3% → 2.1% per month, and payback has sat between 6.3 and 6.6 months for two years while spend more than doubled.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 i="0">
                <a:solidFill>
                  <a:srgbClr val="0B0B0B"/>
                </a:solidFill>
                <a:latin typeface="Verdana"/>
              </a:rPr>
              <a:t>The constraint is data, not performance.  The extract carries no R&amp;D, G&amp;A or payroll, so burn, runway and Rule of 40 cannot be computed here (slide 11).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Bluebell SaaS Pte Ltd - investor update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35508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F2A44"/>
                </a:solidFill>
                <a:latin typeface="Verdana"/>
              </a:rPr>
              <a:t>ARR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784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Exit-month ARR and net new ARR added per quarter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64240" cy="182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093" y="1572768"/>
            <a:ext cx="9779509" cy="3401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3892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ARR grew 7.8x over the period, and only two quarters in three years added less net new ARR than the quarter before. The last four quarters added $0.88M — more than the entire ARR base 24 months ago. Growth is decelerating in percentage terms (+26% QoQ to +12%) while accelerating in absolute dollars, which is what compounding looks like.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Bluebell SaaS Pte Ltd - investor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F2A44"/>
                </a:solidFill>
                <a:latin typeface="Verdana"/>
              </a:rPr>
              <a:t>Customers and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784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Active customers seeded at 120 in Oct-2023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64240" cy="182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093" y="1572768"/>
            <a:ext cx="9779509" cy="3401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3892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757 active customers, up 6.3x. Monthly logo churn improved from 3.3% to 2.1%, lifting implied customer life to 44 months from 33 two years ago. Retention is improving as the base grows — the opposite of the usual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Bluebell SaaS Pte Ltd - investor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F2A44"/>
                </a:solidFill>
                <a:latin typeface="Verdana"/>
              </a:rPr>
              <a:t>Pricing and gross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784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ARPA and gross margin, monthly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64240" cy="182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093" y="1572768"/>
            <a:ext cx="9779509" cy="3401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3892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ARPA rose from $177 to $236 (+34%) and gross margin widened 72% → 78%, adding roughly 6 points of gross profit on every dollar of revenue. ARPA oscillates month to month as new cohorts land below the blended average.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Bluebell SaaS Pte Ltd - investor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F2A44"/>
                </a:solidFill>
                <a:latin typeface="Verdana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784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Trailing-twelve-month basis. The red line is the CAC printed on last quarter's board deck.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64240" cy="182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nit_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94" y="1536192"/>
            <a:ext cx="9726931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074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CAC $1,173 · LTV $8,081 · LTV:CAC 6.9x · payback 6.4 months.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CAC has risen 24% over two years, but ARPA rose 19% alongside it and gross margin widened, so payback is unchanged at ~6.4 months. We pay more per logo and recover it just as fast. Worth watching; not yet a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Bluebell SaaS Pte Ltd - investor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F2A44"/>
                </a:solidFill>
                <a:latin typeface="Verdana"/>
              </a:rPr>
              <a:t>Go-to-market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784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Magic number by quarter and ARR per FTE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64240" cy="182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093" y="1572768"/>
            <a:ext cx="9779509" cy="3401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3892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The magic number has never dropped below 1.65 — well above the 0.75 threshold at which incremental S&amp;M is usually considered worth funding. ARR per FTE doubled to $63k while headcount went 9 → 34.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Bluebell SaaS Pte Ltd - investor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F2A44"/>
                </a:solidFill>
                <a:latin typeface="Verdana"/>
              </a:rPr>
              <a:t>ARR bridge, last twelve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784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How $1.26M of ARR became $2.15M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64240" cy="182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110" y="1554480"/>
            <a:ext cx="8065474" cy="36575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76672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New logos drove $1.20M of gross new ARR against $0.45M lost to churn. Expansion is the $134k residual — the extract has no per-customer detail, so this is an estimate, not a measured figure.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Bluebell SaaS Pte Ltd - investor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F2A44"/>
                </a:solidFill>
                <a:latin typeface="Verdana"/>
              </a:rPr>
              <a:t>Correction to last quarter's board deck (slide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784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Same source data, recomputed. One of the four figures does not hold.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64240" cy="182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27632"/>
          <a:ext cx="11064238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167"/>
                <a:gridCol w="1803952"/>
                <a:gridCol w="1803952"/>
                <a:gridCol w="1683688"/>
                <a:gridCol w="204447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Verdana"/>
                        </a:rPr>
                        <a:t>Metric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Verdana"/>
                        </a:rPr>
                        <a:t>Board deck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Verdana"/>
                        </a:rPr>
                        <a:t>Computed now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Verdana"/>
                        </a:rPr>
                        <a:t>Delta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Verdana"/>
                        </a:rPr>
                        <a:t>Verdict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Verdana"/>
                        </a:rPr>
                        <a:t>CAC (trailing 12 months)</a:t>
                      </a:r>
                    </a:p>
                  </a:txBody>
                  <a:tcPr anchor="ctr" marL="82296" marR="82296" marT="27432" marB="27432"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$1,583.00</a:t>
                      </a:r>
                    </a:p>
                  </a:txBody>
                  <a:tcPr anchor="ctr" marL="82296" marR="82296" marT="27432" marB="27432"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$1,172.91</a:t>
                      </a:r>
                    </a:p>
                  </a:txBody>
                  <a:tcPr anchor="ctr" marL="82296" marR="82296" marT="27432" marB="27432"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−$410.09</a:t>
                      </a:r>
                    </a:p>
                  </a:txBody>
                  <a:tcPr anchor="ctr" marL="82296" marR="82296" marT="27432" marB="27432"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CONFLICT</a:t>
                      </a:r>
                    </a:p>
                  </a:txBody>
                  <a:tcPr anchor="ctr" marL="82296" marR="82296" marT="27432" marB="27432">
                    <a:solidFill>
                      <a:srgbClr val="FDE7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Verdana"/>
                        </a:rPr>
                        <a:t>LTV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$8,019.93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$8,081.31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+$61.38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Definition gap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Verdana"/>
                        </a:rPr>
                        <a:t>CAC payback (months)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6.44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6.44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0.00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Ties out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Verdana"/>
                        </a:rPr>
                        <a:t>ARPA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$236.27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$236.27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$0.00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Verdana"/>
                        </a:rPr>
                        <a:t>Ties out</a:t>
                      </a:r>
                    </a:p>
                  </a:txBody>
                  <a:tcPr anchor="ctr" marL="82296" marR="82296" marT="27432" marB="27432">
                    <a:solidFill>
                      <a:srgbClr val="E6F6E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3703320"/>
            <a:ext cx="11064240" cy="2377440"/>
          </a:xfrm>
          <a:prstGeom prst="rect">
            <a:avLst/>
          </a:prstGeom>
          <a:solidFill>
            <a:srgbClr val="FBFBF9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0B0B0B"/>
                </a:solidFill>
                <a:latin typeface="Verdana"/>
              </a:rPr>
              <a:t>CAC of $1,583 is overstated by roughly 35%.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0B0B0B"/>
                </a:solidFill>
                <a:latin typeface="Verdana"/>
              </a:rPr>
              <a:t>On S&amp;M divided by NEW customers, no twelve-month window in the 36-month record produces $1,583 — every window falls between $950 and $1,173. The figure is reproduced almost exactly ($1,584) by dividing S&amp;M by NET adds over Feb-2024 to Dec-2025: churned logos were subtracted from the denominator, and the window was already stale when the deck was printed.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0B0B0B"/>
                </a:solidFill>
                <a:latin typeface="Verdana"/>
              </a:rPr>
              <a:t>The slide contradicts itself. Payback of 6.44 months only reconciles at a CAC of ~$1,173 — the correct number. LTV and ARPA on that slide are sound (LTV differs by 0.8%, a churn-averaging convention, not an error).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0B0B0B"/>
                </a:solidFill>
                <a:latin typeface="Verdana"/>
              </a:rPr>
              <a:t>Consequence: LTV:CAC was understated at ~5.1x when it was ~6.9x. Restate CAC and anything derived from it; adopt one CAC definition (see Unit_Economics in the model) and hold it constant.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Bluebell SaaS Pte Ltd - investor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F2A44"/>
                </a:solidFill>
                <a:latin typeface="Verdana"/>
              </a:rPr>
              <a:t>Quarterly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784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Last eight quarters, exit-month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64240" cy="182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4592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184"/>
                <a:gridCol w="1056132"/>
                <a:gridCol w="1056132"/>
                <a:gridCol w="1056132"/>
                <a:gridCol w="1056132"/>
                <a:gridCol w="1056132"/>
                <a:gridCol w="1056132"/>
                <a:gridCol w="1056132"/>
                <a:gridCol w="105613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</a:rPr>
                        <a:t>Quarter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</a:rPr>
                        <a:t>24Q4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</a:rPr>
                        <a:t>25Q1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</a:rPr>
                        <a:t>25Q2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</a:rPr>
                        <a:t>25Q3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</a:rPr>
                        <a:t>25Q4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</a:rPr>
                        <a:t>26Q1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</a:rPr>
                        <a:t>26Q2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</a:rPr>
                        <a:t>26Q3</a:t>
                      </a:r>
                    </a:p>
                  </a:txBody>
                  <a:tcPr anchor="ctr" marL="82296" marR="82296" marT="27432" marB="27432"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Verdana"/>
                        </a:rPr>
                        <a:t>Exit ARR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$782k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$922k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$1.11M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$1.26M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$1.46M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$1.65M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$1.92M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$2.15M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Verdana"/>
                        </a:rPr>
                        <a:t>QoQ growth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19.7%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18.0%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20.5%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13.8%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15.4%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13.4%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15.8%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12.0%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Verdana"/>
                        </a:rPr>
                        <a:t>Net new ARR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$129k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$141k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$189k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$153k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$194k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$195k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$262k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$230k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Verdana"/>
                        </a:rPr>
                        <a:t>New logos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71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76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89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90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98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102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111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123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Verdana"/>
                        </a:rPr>
                        <a:t>Churned logos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24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27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30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34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37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39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42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45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Verdana"/>
                        </a:rPr>
                        <a:t>Ending customers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322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371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430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486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547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610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679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757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Verdana"/>
                        </a:rPr>
                        <a:t>Gross margin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74.2%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74.7%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75.3%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75.8%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76.3%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76.8%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77.3%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77.8%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Verdana"/>
                        </a:rPr>
                        <a:t>S&amp;M spend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$70k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$79k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$93k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$101k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$110k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$119k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$134k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$146k</a:t>
                      </a:r>
                    </a:p>
                  </a:txBody>
                  <a:tcPr anchor="ctr" marL="82296" marR="82296" marT="27432" marB="27432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Verdana"/>
                        </a:rPr>
                        <a:t>Magic number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1.96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2.02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2.39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1.65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1.93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1.77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2.21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  <a:latin typeface="Verdana"/>
                        </a:rPr>
                        <a:t>1.72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6235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2514E"/>
                </a:solidFill>
                <a:latin typeface="Verdana"/>
              </a:rPr>
              <a:t>Quarterly revenue, COGS and contribution for all twelve quarters are on the Quarterly tab of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Bluebell SaaS Pte Ltd - investor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F2A44"/>
                </a:solidFill>
                <a:latin typeface="Verdana"/>
              </a:rPr>
              <a:t>Definitions, assumptions and what is missing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784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Verdana"/>
              </a:rPr>
              <a:t>Read this before quoting any number on the preceding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64240" cy="182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F2A44"/>
                </a:solidFill>
                <a:latin typeface="Verdana"/>
              </a:rPr>
              <a:t>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56816"/>
            <a:ext cx="5440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Active customers — opening 120 plus cumulative new less churned. The 120 is management-supplied and unaudited; every customer-based metric moves with it.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ARPA — MRR divided by period-end active customers.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CAC — trailing-12-month S&amp;M divided by trailing-12-month NEW customers. Churned logos are not netted out.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LTV — ARPA × TTM gross margin ÷ TTM logo churn rate.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CAC payback — CAC ÷ (ARPA × TTM gross margin), in months.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Magic number — quarterly net new ARR ÷ prior-quarter S&amp;M.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Churn is measured on logos, not dollars; dollar churn is not derivable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5727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F2A44"/>
                </a:solidFill>
                <a:latin typeface="Verdana"/>
              </a:rPr>
              <a:t>What this data cannot tell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56816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No opex. The extract holds revenue, COGS, S&amp;M and headcount only — no R&amp;D, G&amp;A or payroll. Operating expense, EBITDA, net burn, runway and Rule of 40 are therefore not computed anywhere in this pack. "Contribution" means MRR less COGS less S&amp;M: an upper bound on profitability, not a burn figure.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No expansion detail. Without per-customer or cohort revenue we cannot compute net revenue retention. The ARR bridge on slide 8 values new and churned logos at blended ARPA and treats expansion as the residual — directionally right, not audit-grade.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Sep-2026 is treated as a complete month, as supplied.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Cash, deferred revenue, contract length and billing terms are all absent, so ARR here is MRR × 12, not a contracted-backlog figure.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0B0B0B"/>
                </a:solidFill>
                <a:latin typeface="Verdana"/>
              </a:rPr>
              <a:t>The extract reads as normalised, not raw. Gross margin rises by exactly 17.1 basis points every month for 36 straight months, and churned-logo counts step up on a fixed cadence. Real ledgers are noisier than this. Reconcile the extract to the accounting system before these figures go to investors.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Bluebell SaaS Pte Ltd - investor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8880"/>
                </a:solidFill>
                <a:latin typeface="Verdana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